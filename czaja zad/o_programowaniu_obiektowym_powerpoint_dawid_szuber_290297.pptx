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0256E4-3DF4-4C22-8CDF-B88A910BCB75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0707A0-BE15-4F99-A482-2FEFF8BAE540}">
      <dgm:prSet/>
      <dgm:spPr/>
      <dgm:t>
        <a:bodyPr/>
        <a:lstStyle/>
        <a:p>
          <a:r>
            <a:rPr lang="pl-PL" b="1" i="0" baseline="0"/>
            <a:t>Klasa (Class):</a:t>
          </a:r>
          <a:endParaRPr lang="en-US"/>
        </a:p>
      </dgm:t>
    </dgm:pt>
    <dgm:pt modelId="{162287A5-2096-4901-8128-773F45A15795}" type="parTrans" cxnId="{B4093657-3AA2-4FFB-B0FA-2295814BCC91}">
      <dgm:prSet/>
      <dgm:spPr/>
      <dgm:t>
        <a:bodyPr/>
        <a:lstStyle/>
        <a:p>
          <a:endParaRPr lang="en-US"/>
        </a:p>
      </dgm:t>
    </dgm:pt>
    <dgm:pt modelId="{38281EB4-36E5-4C09-97C4-FFE4BA5905E5}" type="sibTrans" cxnId="{B4093657-3AA2-4FFB-B0FA-2295814BCC91}">
      <dgm:prSet/>
      <dgm:spPr/>
      <dgm:t>
        <a:bodyPr/>
        <a:lstStyle/>
        <a:p>
          <a:endParaRPr lang="en-US"/>
        </a:p>
      </dgm:t>
    </dgm:pt>
    <dgm:pt modelId="{08A0DC8C-E4AA-49D6-8905-58386B9B9602}">
      <dgm:prSet/>
      <dgm:spPr/>
      <dgm:t>
        <a:bodyPr/>
        <a:lstStyle/>
        <a:p>
          <a:r>
            <a:rPr lang="pl-PL" b="0" i="0" baseline="0"/>
            <a:t>To plan, szablon lub projekt (np. definicja "Samochodu").</a:t>
          </a:r>
          <a:endParaRPr lang="en-US"/>
        </a:p>
      </dgm:t>
    </dgm:pt>
    <dgm:pt modelId="{4F2DA11C-6DF6-499D-A106-E32B506D3AAB}" type="parTrans" cxnId="{80029DB3-C188-4FCD-AD42-42F892C1134D}">
      <dgm:prSet/>
      <dgm:spPr/>
      <dgm:t>
        <a:bodyPr/>
        <a:lstStyle/>
        <a:p>
          <a:endParaRPr lang="en-US"/>
        </a:p>
      </dgm:t>
    </dgm:pt>
    <dgm:pt modelId="{44296341-7448-4F44-9F40-5B1285C473D0}" type="sibTrans" cxnId="{80029DB3-C188-4FCD-AD42-42F892C1134D}">
      <dgm:prSet/>
      <dgm:spPr/>
      <dgm:t>
        <a:bodyPr/>
        <a:lstStyle/>
        <a:p>
          <a:endParaRPr lang="en-US"/>
        </a:p>
      </dgm:t>
    </dgm:pt>
    <dgm:pt modelId="{B11F0F7E-9948-44B5-8AE3-672941F88F8C}">
      <dgm:prSet/>
      <dgm:spPr/>
      <dgm:t>
        <a:bodyPr/>
        <a:lstStyle/>
        <a:p>
          <a:r>
            <a:rPr lang="pl-PL" b="0" i="0" baseline="0"/>
            <a:t>Opisuje cechy i zachowania, ale sama nie jest bytem fizycznym.</a:t>
          </a:r>
          <a:endParaRPr lang="en-US"/>
        </a:p>
      </dgm:t>
    </dgm:pt>
    <dgm:pt modelId="{D5F500DE-3C86-4E9D-A3BD-D3A33588D98E}" type="parTrans" cxnId="{BB7BFAB9-9833-45A6-9F38-59BA5ACA5DA4}">
      <dgm:prSet/>
      <dgm:spPr/>
      <dgm:t>
        <a:bodyPr/>
        <a:lstStyle/>
        <a:p>
          <a:endParaRPr lang="en-US"/>
        </a:p>
      </dgm:t>
    </dgm:pt>
    <dgm:pt modelId="{5216E7EA-6DCC-4CE2-9601-899BB088CCAD}" type="sibTrans" cxnId="{BB7BFAB9-9833-45A6-9F38-59BA5ACA5DA4}">
      <dgm:prSet/>
      <dgm:spPr/>
      <dgm:t>
        <a:bodyPr/>
        <a:lstStyle/>
        <a:p>
          <a:endParaRPr lang="en-US"/>
        </a:p>
      </dgm:t>
    </dgm:pt>
    <dgm:pt modelId="{3586D710-1C75-41BB-B593-8AD060A17C58}">
      <dgm:prSet/>
      <dgm:spPr/>
      <dgm:t>
        <a:bodyPr/>
        <a:lstStyle/>
        <a:p>
          <a:r>
            <a:rPr lang="pl-PL" b="1" i="0" baseline="0"/>
            <a:t>Obiekt (Object):</a:t>
          </a:r>
          <a:endParaRPr lang="en-US"/>
        </a:p>
      </dgm:t>
    </dgm:pt>
    <dgm:pt modelId="{E5AAFD36-B1A1-452A-9BD8-7A3200827660}" type="parTrans" cxnId="{03C5969A-9634-4054-8AA8-BE79FDB15400}">
      <dgm:prSet/>
      <dgm:spPr/>
      <dgm:t>
        <a:bodyPr/>
        <a:lstStyle/>
        <a:p>
          <a:endParaRPr lang="en-US"/>
        </a:p>
      </dgm:t>
    </dgm:pt>
    <dgm:pt modelId="{E7FC57A8-FD7C-4E36-AC68-5A1E335D45DD}" type="sibTrans" cxnId="{03C5969A-9634-4054-8AA8-BE79FDB15400}">
      <dgm:prSet/>
      <dgm:spPr/>
      <dgm:t>
        <a:bodyPr/>
        <a:lstStyle/>
        <a:p>
          <a:endParaRPr lang="en-US"/>
        </a:p>
      </dgm:t>
    </dgm:pt>
    <dgm:pt modelId="{D737545F-9B0C-40BE-B731-DD845E5DB2A3}">
      <dgm:prSet/>
      <dgm:spPr/>
      <dgm:t>
        <a:bodyPr/>
        <a:lstStyle/>
        <a:p>
          <a:r>
            <a:rPr lang="pl-PL" b="0" i="0" baseline="0"/>
            <a:t>Konkretna instancja klasy stworzona na podstawie planu (instancjacja).</a:t>
          </a:r>
          <a:endParaRPr lang="en-US"/>
        </a:p>
      </dgm:t>
    </dgm:pt>
    <dgm:pt modelId="{AA391862-6E3F-439E-B3A1-6DE3FE005F21}" type="parTrans" cxnId="{AFE35557-E30D-47A7-8028-DC591F77A34F}">
      <dgm:prSet/>
      <dgm:spPr/>
      <dgm:t>
        <a:bodyPr/>
        <a:lstStyle/>
        <a:p>
          <a:endParaRPr lang="en-US"/>
        </a:p>
      </dgm:t>
    </dgm:pt>
    <dgm:pt modelId="{33497EE0-B099-45C5-806F-0EBAE31B7D5E}" type="sibTrans" cxnId="{AFE35557-E30D-47A7-8028-DC591F77A34F}">
      <dgm:prSet/>
      <dgm:spPr/>
      <dgm:t>
        <a:bodyPr/>
        <a:lstStyle/>
        <a:p>
          <a:endParaRPr lang="en-US"/>
        </a:p>
      </dgm:t>
    </dgm:pt>
    <dgm:pt modelId="{B6E8C793-2AC9-44FB-B7BE-A262F03FBA65}">
      <dgm:prSet/>
      <dgm:spPr/>
      <dgm:t>
        <a:bodyPr/>
        <a:lstStyle/>
        <a:p>
          <a:r>
            <a:rPr lang="pl-PL" b="0" i="0" baseline="0"/>
            <a:t>Przykład: mojeAuto (Ferrari) vs autoSasiada (Fiat) – mają te same metody, ale różne dane .</a:t>
          </a:r>
          <a:endParaRPr lang="en-US"/>
        </a:p>
      </dgm:t>
    </dgm:pt>
    <dgm:pt modelId="{058769C1-6F30-4FC3-ABF7-45A360BBE24E}" type="parTrans" cxnId="{3A391DB3-36F7-40D6-B720-3D9EE7068756}">
      <dgm:prSet/>
      <dgm:spPr/>
      <dgm:t>
        <a:bodyPr/>
        <a:lstStyle/>
        <a:p>
          <a:endParaRPr lang="en-US"/>
        </a:p>
      </dgm:t>
    </dgm:pt>
    <dgm:pt modelId="{FB764540-BE09-42DE-9B59-A636BB5ADC58}" type="sibTrans" cxnId="{3A391DB3-36F7-40D6-B720-3D9EE7068756}">
      <dgm:prSet/>
      <dgm:spPr/>
      <dgm:t>
        <a:bodyPr/>
        <a:lstStyle/>
        <a:p>
          <a:endParaRPr lang="en-US"/>
        </a:p>
      </dgm:t>
    </dgm:pt>
    <dgm:pt modelId="{84E0A1A4-A84C-4EB5-B7A3-01EB1B8A96A1}">
      <dgm:prSet/>
      <dgm:spPr/>
      <dgm:t>
        <a:bodyPr/>
        <a:lstStyle/>
        <a:p>
          <a:r>
            <a:rPr lang="pl-PL" b="1" i="0" baseline="0"/>
            <a:t>Konstruktor:</a:t>
          </a:r>
          <a:r>
            <a:rPr lang="pl-PL" b="0" i="0" baseline="0"/>
            <a:t> Specjalna metoda do inicjalizacji początkowych wartości obiektu.</a:t>
          </a:r>
          <a:endParaRPr lang="en-US"/>
        </a:p>
      </dgm:t>
    </dgm:pt>
    <dgm:pt modelId="{BF99E8B8-55E0-428C-885B-7E7182477D93}" type="parTrans" cxnId="{5E3B1C30-DE73-46B8-A84F-341306C4FEA0}">
      <dgm:prSet/>
      <dgm:spPr/>
      <dgm:t>
        <a:bodyPr/>
        <a:lstStyle/>
        <a:p>
          <a:endParaRPr lang="en-US"/>
        </a:p>
      </dgm:t>
    </dgm:pt>
    <dgm:pt modelId="{7C9BF237-F1D4-455F-BF5D-5188B6551FA1}" type="sibTrans" cxnId="{5E3B1C30-DE73-46B8-A84F-341306C4FEA0}">
      <dgm:prSet/>
      <dgm:spPr/>
      <dgm:t>
        <a:bodyPr/>
        <a:lstStyle/>
        <a:p>
          <a:endParaRPr lang="en-US"/>
        </a:p>
      </dgm:t>
    </dgm:pt>
    <dgm:pt modelId="{D90162E8-4E8F-47B3-B52E-D643E4765F2E}" type="pres">
      <dgm:prSet presAssocID="{830256E4-3DF4-4C22-8CDF-B88A910BCB7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1D671BB-5C70-47FF-BD00-2263BC0F1D18}" type="pres">
      <dgm:prSet presAssocID="{F90707A0-BE15-4F99-A482-2FEFF8BAE540}" presName="root" presStyleCnt="0"/>
      <dgm:spPr/>
    </dgm:pt>
    <dgm:pt modelId="{129DBDE1-0680-4FFF-BDD8-FB330C2C9255}" type="pres">
      <dgm:prSet presAssocID="{F90707A0-BE15-4F99-A482-2FEFF8BAE540}" presName="rootComposite" presStyleCnt="0"/>
      <dgm:spPr/>
    </dgm:pt>
    <dgm:pt modelId="{795D8B45-D785-416A-8E3A-9E6A9A0D3718}" type="pres">
      <dgm:prSet presAssocID="{F90707A0-BE15-4F99-A482-2FEFF8BAE540}" presName="rootText" presStyleLbl="node1" presStyleIdx="0" presStyleCnt="3"/>
      <dgm:spPr/>
    </dgm:pt>
    <dgm:pt modelId="{E5D11A8D-96D1-4994-B9BC-9C68E834912A}" type="pres">
      <dgm:prSet presAssocID="{F90707A0-BE15-4F99-A482-2FEFF8BAE540}" presName="rootConnector" presStyleLbl="node1" presStyleIdx="0" presStyleCnt="3"/>
      <dgm:spPr/>
    </dgm:pt>
    <dgm:pt modelId="{44295000-0000-437A-9E44-1808426C3E09}" type="pres">
      <dgm:prSet presAssocID="{F90707A0-BE15-4F99-A482-2FEFF8BAE540}" presName="childShape" presStyleCnt="0"/>
      <dgm:spPr/>
    </dgm:pt>
    <dgm:pt modelId="{F903E9DB-36E4-4937-B34F-4050DE0DC7A9}" type="pres">
      <dgm:prSet presAssocID="{4F2DA11C-6DF6-499D-A106-E32B506D3AAB}" presName="Name13" presStyleLbl="parChTrans1D2" presStyleIdx="0" presStyleCnt="4"/>
      <dgm:spPr/>
    </dgm:pt>
    <dgm:pt modelId="{D58536E8-B90D-41ED-AA6B-556ADC068522}" type="pres">
      <dgm:prSet presAssocID="{08A0DC8C-E4AA-49D6-8905-58386B9B9602}" presName="childText" presStyleLbl="bgAcc1" presStyleIdx="0" presStyleCnt="4">
        <dgm:presLayoutVars>
          <dgm:bulletEnabled val="1"/>
        </dgm:presLayoutVars>
      </dgm:prSet>
      <dgm:spPr/>
    </dgm:pt>
    <dgm:pt modelId="{8E1768A6-3B27-44D4-80A8-6EFA063A19DC}" type="pres">
      <dgm:prSet presAssocID="{D5F500DE-3C86-4E9D-A3BD-D3A33588D98E}" presName="Name13" presStyleLbl="parChTrans1D2" presStyleIdx="1" presStyleCnt="4"/>
      <dgm:spPr/>
    </dgm:pt>
    <dgm:pt modelId="{5D8BEE8B-CF2A-4B29-A567-395D149985FD}" type="pres">
      <dgm:prSet presAssocID="{B11F0F7E-9948-44B5-8AE3-672941F88F8C}" presName="childText" presStyleLbl="bgAcc1" presStyleIdx="1" presStyleCnt="4">
        <dgm:presLayoutVars>
          <dgm:bulletEnabled val="1"/>
        </dgm:presLayoutVars>
      </dgm:prSet>
      <dgm:spPr/>
    </dgm:pt>
    <dgm:pt modelId="{3935B24E-8B35-4DCB-975E-CC9DAE60B03E}" type="pres">
      <dgm:prSet presAssocID="{3586D710-1C75-41BB-B593-8AD060A17C58}" presName="root" presStyleCnt="0"/>
      <dgm:spPr/>
    </dgm:pt>
    <dgm:pt modelId="{DA9D855A-4410-483E-8C6B-4037E2F049E5}" type="pres">
      <dgm:prSet presAssocID="{3586D710-1C75-41BB-B593-8AD060A17C58}" presName="rootComposite" presStyleCnt="0"/>
      <dgm:spPr/>
    </dgm:pt>
    <dgm:pt modelId="{E44CF10E-D789-4CB4-8879-E0A49A50ACC5}" type="pres">
      <dgm:prSet presAssocID="{3586D710-1C75-41BB-B593-8AD060A17C58}" presName="rootText" presStyleLbl="node1" presStyleIdx="1" presStyleCnt="3"/>
      <dgm:spPr/>
    </dgm:pt>
    <dgm:pt modelId="{1F809FFA-7AEC-4A7C-BEA0-D23EBE0D7375}" type="pres">
      <dgm:prSet presAssocID="{3586D710-1C75-41BB-B593-8AD060A17C58}" presName="rootConnector" presStyleLbl="node1" presStyleIdx="1" presStyleCnt="3"/>
      <dgm:spPr/>
    </dgm:pt>
    <dgm:pt modelId="{0754F172-DF2C-4879-976A-E0C96D269885}" type="pres">
      <dgm:prSet presAssocID="{3586D710-1C75-41BB-B593-8AD060A17C58}" presName="childShape" presStyleCnt="0"/>
      <dgm:spPr/>
    </dgm:pt>
    <dgm:pt modelId="{11B69D61-D22B-4E49-90C1-34FBAD3068A3}" type="pres">
      <dgm:prSet presAssocID="{AA391862-6E3F-439E-B3A1-6DE3FE005F21}" presName="Name13" presStyleLbl="parChTrans1D2" presStyleIdx="2" presStyleCnt="4"/>
      <dgm:spPr/>
    </dgm:pt>
    <dgm:pt modelId="{75BFF215-4D00-4763-BEA8-4CE0CC14995A}" type="pres">
      <dgm:prSet presAssocID="{D737545F-9B0C-40BE-B731-DD845E5DB2A3}" presName="childText" presStyleLbl="bgAcc1" presStyleIdx="2" presStyleCnt="4">
        <dgm:presLayoutVars>
          <dgm:bulletEnabled val="1"/>
        </dgm:presLayoutVars>
      </dgm:prSet>
      <dgm:spPr/>
    </dgm:pt>
    <dgm:pt modelId="{A3447467-A717-4B2F-948B-CC402DD004BB}" type="pres">
      <dgm:prSet presAssocID="{058769C1-6F30-4FC3-ABF7-45A360BBE24E}" presName="Name13" presStyleLbl="parChTrans1D2" presStyleIdx="3" presStyleCnt="4"/>
      <dgm:spPr/>
    </dgm:pt>
    <dgm:pt modelId="{F7367F25-D813-496E-A8A4-4B7014DA5A43}" type="pres">
      <dgm:prSet presAssocID="{B6E8C793-2AC9-44FB-B7BE-A262F03FBA65}" presName="childText" presStyleLbl="bgAcc1" presStyleIdx="3" presStyleCnt="4">
        <dgm:presLayoutVars>
          <dgm:bulletEnabled val="1"/>
        </dgm:presLayoutVars>
      </dgm:prSet>
      <dgm:spPr/>
    </dgm:pt>
    <dgm:pt modelId="{3B2E96D4-EC3D-4CEF-B27D-93AAA8B7A33F}" type="pres">
      <dgm:prSet presAssocID="{84E0A1A4-A84C-4EB5-B7A3-01EB1B8A96A1}" presName="root" presStyleCnt="0"/>
      <dgm:spPr/>
    </dgm:pt>
    <dgm:pt modelId="{ED7DE40F-CA2C-4C31-81E0-5C1A3FCACB4B}" type="pres">
      <dgm:prSet presAssocID="{84E0A1A4-A84C-4EB5-B7A3-01EB1B8A96A1}" presName="rootComposite" presStyleCnt="0"/>
      <dgm:spPr/>
    </dgm:pt>
    <dgm:pt modelId="{5E83D0DA-E29E-465F-BF1D-1E84DA315A6D}" type="pres">
      <dgm:prSet presAssocID="{84E0A1A4-A84C-4EB5-B7A3-01EB1B8A96A1}" presName="rootText" presStyleLbl="node1" presStyleIdx="2" presStyleCnt="3"/>
      <dgm:spPr/>
    </dgm:pt>
    <dgm:pt modelId="{01A16689-FC87-4364-9890-A5D867319D1A}" type="pres">
      <dgm:prSet presAssocID="{84E0A1A4-A84C-4EB5-B7A3-01EB1B8A96A1}" presName="rootConnector" presStyleLbl="node1" presStyleIdx="2" presStyleCnt="3"/>
      <dgm:spPr/>
    </dgm:pt>
    <dgm:pt modelId="{600940E2-E8F3-499E-9FC9-829A7267552E}" type="pres">
      <dgm:prSet presAssocID="{84E0A1A4-A84C-4EB5-B7A3-01EB1B8A96A1}" presName="childShape" presStyleCnt="0"/>
      <dgm:spPr/>
    </dgm:pt>
  </dgm:ptLst>
  <dgm:cxnLst>
    <dgm:cxn modelId="{D26F630A-0587-476A-8446-03FD6F599DC3}" type="presOf" srcId="{D5F500DE-3C86-4E9D-A3BD-D3A33588D98E}" destId="{8E1768A6-3B27-44D4-80A8-6EFA063A19DC}" srcOrd="0" destOrd="0" presId="urn:microsoft.com/office/officeart/2005/8/layout/hierarchy3"/>
    <dgm:cxn modelId="{3A8A3F28-0B49-443F-B556-BF33463593EE}" type="presOf" srcId="{D737545F-9B0C-40BE-B731-DD845E5DB2A3}" destId="{75BFF215-4D00-4763-BEA8-4CE0CC14995A}" srcOrd="0" destOrd="0" presId="urn:microsoft.com/office/officeart/2005/8/layout/hierarchy3"/>
    <dgm:cxn modelId="{0BE2B92C-2DDC-4880-8A0F-A13D6CBB6E0E}" type="presOf" srcId="{AA391862-6E3F-439E-B3A1-6DE3FE005F21}" destId="{11B69D61-D22B-4E49-90C1-34FBAD3068A3}" srcOrd="0" destOrd="0" presId="urn:microsoft.com/office/officeart/2005/8/layout/hierarchy3"/>
    <dgm:cxn modelId="{5E3B1C30-DE73-46B8-A84F-341306C4FEA0}" srcId="{830256E4-3DF4-4C22-8CDF-B88A910BCB75}" destId="{84E0A1A4-A84C-4EB5-B7A3-01EB1B8A96A1}" srcOrd="2" destOrd="0" parTransId="{BF99E8B8-55E0-428C-885B-7E7182477D93}" sibTransId="{7C9BF237-F1D4-455F-BF5D-5188B6551FA1}"/>
    <dgm:cxn modelId="{509EEE33-0E04-4DF9-B7A0-342BC3D74C7F}" type="presOf" srcId="{058769C1-6F30-4FC3-ABF7-45A360BBE24E}" destId="{A3447467-A717-4B2F-948B-CC402DD004BB}" srcOrd="0" destOrd="0" presId="urn:microsoft.com/office/officeart/2005/8/layout/hierarchy3"/>
    <dgm:cxn modelId="{9FD84C3F-D163-4DAD-8889-73ADA53B5EA4}" type="presOf" srcId="{4F2DA11C-6DF6-499D-A106-E32B506D3AAB}" destId="{F903E9DB-36E4-4937-B34F-4050DE0DC7A9}" srcOrd="0" destOrd="0" presId="urn:microsoft.com/office/officeart/2005/8/layout/hierarchy3"/>
    <dgm:cxn modelId="{DD9CF65B-8273-44D9-AFB7-B5C07DCF8120}" type="presOf" srcId="{3586D710-1C75-41BB-B593-8AD060A17C58}" destId="{E44CF10E-D789-4CB4-8879-E0A49A50ACC5}" srcOrd="0" destOrd="0" presId="urn:microsoft.com/office/officeart/2005/8/layout/hierarchy3"/>
    <dgm:cxn modelId="{76AA6163-4F91-4989-9530-8AE9C13C99C1}" type="presOf" srcId="{B11F0F7E-9948-44B5-8AE3-672941F88F8C}" destId="{5D8BEE8B-CF2A-4B29-A567-395D149985FD}" srcOrd="0" destOrd="0" presId="urn:microsoft.com/office/officeart/2005/8/layout/hierarchy3"/>
    <dgm:cxn modelId="{16F4F26B-29D4-4B7F-B1D5-6DB3D2340E38}" type="presOf" srcId="{F90707A0-BE15-4F99-A482-2FEFF8BAE540}" destId="{795D8B45-D785-416A-8E3A-9E6A9A0D3718}" srcOrd="0" destOrd="0" presId="urn:microsoft.com/office/officeart/2005/8/layout/hierarchy3"/>
    <dgm:cxn modelId="{98CD6652-B166-49DF-9AA1-7E7BD42F0057}" type="presOf" srcId="{3586D710-1C75-41BB-B593-8AD060A17C58}" destId="{1F809FFA-7AEC-4A7C-BEA0-D23EBE0D7375}" srcOrd="1" destOrd="0" presId="urn:microsoft.com/office/officeart/2005/8/layout/hierarchy3"/>
    <dgm:cxn modelId="{158C6073-3A00-4763-9093-9E9967DC4E19}" type="presOf" srcId="{08A0DC8C-E4AA-49D6-8905-58386B9B9602}" destId="{D58536E8-B90D-41ED-AA6B-556ADC068522}" srcOrd="0" destOrd="0" presId="urn:microsoft.com/office/officeart/2005/8/layout/hierarchy3"/>
    <dgm:cxn modelId="{B4093657-3AA2-4FFB-B0FA-2295814BCC91}" srcId="{830256E4-3DF4-4C22-8CDF-B88A910BCB75}" destId="{F90707A0-BE15-4F99-A482-2FEFF8BAE540}" srcOrd="0" destOrd="0" parTransId="{162287A5-2096-4901-8128-773F45A15795}" sibTransId="{38281EB4-36E5-4C09-97C4-FFE4BA5905E5}"/>
    <dgm:cxn modelId="{AFE35557-E30D-47A7-8028-DC591F77A34F}" srcId="{3586D710-1C75-41BB-B593-8AD060A17C58}" destId="{D737545F-9B0C-40BE-B731-DD845E5DB2A3}" srcOrd="0" destOrd="0" parTransId="{AA391862-6E3F-439E-B3A1-6DE3FE005F21}" sibTransId="{33497EE0-B099-45C5-806F-0EBAE31B7D5E}"/>
    <dgm:cxn modelId="{A3F9D584-7023-4EDE-96B0-B8D5C1706521}" type="presOf" srcId="{830256E4-3DF4-4C22-8CDF-B88A910BCB75}" destId="{D90162E8-4E8F-47B3-B52E-D643E4765F2E}" srcOrd="0" destOrd="0" presId="urn:microsoft.com/office/officeart/2005/8/layout/hierarchy3"/>
    <dgm:cxn modelId="{6FEF8198-C119-402E-982E-DE1C745BC2BF}" type="presOf" srcId="{84E0A1A4-A84C-4EB5-B7A3-01EB1B8A96A1}" destId="{5E83D0DA-E29E-465F-BF1D-1E84DA315A6D}" srcOrd="0" destOrd="0" presId="urn:microsoft.com/office/officeart/2005/8/layout/hierarchy3"/>
    <dgm:cxn modelId="{03C5969A-9634-4054-8AA8-BE79FDB15400}" srcId="{830256E4-3DF4-4C22-8CDF-B88A910BCB75}" destId="{3586D710-1C75-41BB-B593-8AD060A17C58}" srcOrd="1" destOrd="0" parTransId="{E5AAFD36-B1A1-452A-9BD8-7A3200827660}" sibTransId="{E7FC57A8-FD7C-4E36-AC68-5A1E335D45DD}"/>
    <dgm:cxn modelId="{3A391DB3-36F7-40D6-B720-3D9EE7068756}" srcId="{3586D710-1C75-41BB-B593-8AD060A17C58}" destId="{B6E8C793-2AC9-44FB-B7BE-A262F03FBA65}" srcOrd="1" destOrd="0" parTransId="{058769C1-6F30-4FC3-ABF7-45A360BBE24E}" sibTransId="{FB764540-BE09-42DE-9B59-A636BB5ADC58}"/>
    <dgm:cxn modelId="{80029DB3-C188-4FCD-AD42-42F892C1134D}" srcId="{F90707A0-BE15-4F99-A482-2FEFF8BAE540}" destId="{08A0DC8C-E4AA-49D6-8905-58386B9B9602}" srcOrd="0" destOrd="0" parTransId="{4F2DA11C-6DF6-499D-A106-E32B506D3AAB}" sibTransId="{44296341-7448-4F44-9F40-5B1285C473D0}"/>
    <dgm:cxn modelId="{BB7BFAB9-9833-45A6-9F38-59BA5ACA5DA4}" srcId="{F90707A0-BE15-4F99-A482-2FEFF8BAE540}" destId="{B11F0F7E-9948-44B5-8AE3-672941F88F8C}" srcOrd="1" destOrd="0" parTransId="{D5F500DE-3C86-4E9D-A3BD-D3A33588D98E}" sibTransId="{5216E7EA-6DCC-4CE2-9601-899BB088CCAD}"/>
    <dgm:cxn modelId="{A87975D6-AD3D-4ECA-9B85-D9F7227C2996}" type="presOf" srcId="{84E0A1A4-A84C-4EB5-B7A3-01EB1B8A96A1}" destId="{01A16689-FC87-4364-9890-A5D867319D1A}" srcOrd="1" destOrd="0" presId="urn:microsoft.com/office/officeart/2005/8/layout/hierarchy3"/>
    <dgm:cxn modelId="{73D897D8-9B3F-4B46-AC1D-D11311C357A1}" type="presOf" srcId="{B6E8C793-2AC9-44FB-B7BE-A262F03FBA65}" destId="{F7367F25-D813-496E-A8A4-4B7014DA5A43}" srcOrd="0" destOrd="0" presId="urn:microsoft.com/office/officeart/2005/8/layout/hierarchy3"/>
    <dgm:cxn modelId="{AC44C4DD-F710-4DE7-AB6C-A19B80E5A5A2}" type="presOf" srcId="{F90707A0-BE15-4F99-A482-2FEFF8BAE540}" destId="{E5D11A8D-96D1-4994-B9BC-9C68E834912A}" srcOrd="1" destOrd="0" presId="urn:microsoft.com/office/officeart/2005/8/layout/hierarchy3"/>
    <dgm:cxn modelId="{FD2E1F92-C5A6-4605-8A8D-5484179675CF}" type="presParOf" srcId="{D90162E8-4E8F-47B3-B52E-D643E4765F2E}" destId="{C1D671BB-5C70-47FF-BD00-2263BC0F1D18}" srcOrd="0" destOrd="0" presId="urn:microsoft.com/office/officeart/2005/8/layout/hierarchy3"/>
    <dgm:cxn modelId="{8500B2CB-0926-45D4-BE48-B0F7C4DA8CF7}" type="presParOf" srcId="{C1D671BB-5C70-47FF-BD00-2263BC0F1D18}" destId="{129DBDE1-0680-4FFF-BDD8-FB330C2C9255}" srcOrd="0" destOrd="0" presId="urn:microsoft.com/office/officeart/2005/8/layout/hierarchy3"/>
    <dgm:cxn modelId="{6567A5FC-95C4-4DA6-B31A-3D4522FADE13}" type="presParOf" srcId="{129DBDE1-0680-4FFF-BDD8-FB330C2C9255}" destId="{795D8B45-D785-416A-8E3A-9E6A9A0D3718}" srcOrd="0" destOrd="0" presId="urn:microsoft.com/office/officeart/2005/8/layout/hierarchy3"/>
    <dgm:cxn modelId="{F853C647-D758-47BC-9A72-8BF657528513}" type="presParOf" srcId="{129DBDE1-0680-4FFF-BDD8-FB330C2C9255}" destId="{E5D11A8D-96D1-4994-B9BC-9C68E834912A}" srcOrd="1" destOrd="0" presId="urn:microsoft.com/office/officeart/2005/8/layout/hierarchy3"/>
    <dgm:cxn modelId="{CC9BDBE9-E2EF-4C7A-ABAD-5DC4858D3535}" type="presParOf" srcId="{C1D671BB-5C70-47FF-BD00-2263BC0F1D18}" destId="{44295000-0000-437A-9E44-1808426C3E09}" srcOrd="1" destOrd="0" presId="urn:microsoft.com/office/officeart/2005/8/layout/hierarchy3"/>
    <dgm:cxn modelId="{77649BC9-AAF5-4DFA-BA47-00173B09BE24}" type="presParOf" srcId="{44295000-0000-437A-9E44-1808426C3E09}" destId="{F903E9DB-36E4-4937-B34F-4050DE0DC7A9}" srcOrd="0" destOrd="0" presId="urn:microsoft.com/office/officeart/2005/8/layout/hierarchy3"/>
    <dgm:cxn modelId="{E1799FBF-3573-4F50-B1D3-6ED08AD54DEC}" type="presParOf" srcId="{44295000-0000-437A-9E44-1808426C3E09}" destId="{D58536E8-B90D-41ED-AA6B-556ADC068522}" srcOrd="1" destOrd="0" presId="urn:microsoft.com/office/officeart/2005/8/layout/hierarchy3"/>
    <dgm:cxn modelId="{D0FF4645-1C09-4014-A190-98533EA4D83F}" type="presParOf" srcId="{44295000-0000-437A-9E44-1808426C3E09}" destId="{8E1768A6-3B27-44D4-80A8-6EFA063A19DC}" srcOrd="2" destOrd="0" presId="urn:microsoft.com/office/officeart/2005/8/layout/hierarchy3"/>
    <dgm:cxn modelId="{0CF8A0BB-042C-4D99-A16B-96152F5CEFA3}" type="presParOf" srcId="{44295000-0000-437A-9E44-1808426C3E09}" destId="{5D8BEE8B-CF2A-4B29-A567-395D149985FD}" srcOrd="3" destOrd="0" presId="urn:microsoft.com/office/officeart/2005/8/layout/hierarchy3"/>
    <dgm:cxn modelId="{EB798BF3-4AC1-4AB6-99A4-69A59A5DFD48}" type="presParOf" srcId="{D90162E8-4E8F-47B3-B52E-D643E4765F2E}" destId="{3935B24E-8B35-4DCB-975E-CC9DAE60B03E}" srcOrd="1" destOrd="0" presId="urn:microsoft.com/office/officeart/2005/8/layout/hierarchy3"/>
    <dgm:cxn modelId="{D07D94F5-1EE0-462D-8B60-4D32FE51A7E5}" type="presParOf" srcId="{3935B24E-8B35-4DCB-975E-CC9DAE60B03E}" destId="{DA9D855A-4410-483E-8C6B-4037E2F049E5}" srcOrd="0" destOrd="0" presId="urn:microsoft.com/office/officeart/2005/8/layout/hierarchy3"/>
    <dgm:cxn modelId="{1A2099A2-6B53-46FA-B0C9-4932140156A4}" type="presParOf" srcId="{DA9D855A-4410-483E-8C6B-4037E2F049E5}" destId="{E44CF10E-D789-4CB4-8879-E0A49A50ACC5}" srcOrd="0" destOrd="0" presId="urn:microsoft.com/office/officeart/2005/8/layout/hierarchy3"/>
    <dgm:cxn modelId="{4D13C2F3-2160-41E6-BE41-168581065E63}" type="presParOf" srcId="{DA9D855A-4410-483E-8C6B-4037E2F049E5}" destId="{1F809FFA-7AEC-4A7C-BEA0-D23EBE0D7375}" srcOrd="1" destOrd="0" presId="urn:microsoft.com/office/officeart/2005/8/layout/hierarchy3"/>
    <dgm:cxn modelId="{17174C21-EFBB-4D59-99DD-62A36FDC1C3D}" type="presParOf" srcId="{3935B24E-8B35-4DCB-975E-CC9DAE60B03E}" destId="{0754F172-DF2C-4879-976A-E0C96D269885}" srcOrd="1" destOrd="0" presId="urn:microsoft.com/office/officeart/2005/8/layout/hierarchy3"/>
    <dgm:cxn modelId="{AE07AA57-A48A-4380-8B41-3505CBFFCF53}" type="presParOf" srcId="{0754F172-DF2C-4879-976A-E0C96D269885}" destId="{11B69D61-D22B-4E49-90C1-34FBAD3068A3}" srcOrd="0" destOrd="0" presId="urn:microsoft.com/office/officeart/2005/8/layout/hierarchy3"/>
    <dgm:cxn modelId="{CD64021A-1AF9-4C14-A7A4-27E164827379}" type="presParOf" srcId="{0754F172-DF2C-4879-976A-E0C96D269885}" destId="{75BFF215-4D00-4763-BEA8-4CE0CC14995A}" srcOrd="1" destOrd="0" presId="urn:microsoft.com/office/officeart/2005/8/layout/hierarchy3"/>
    <dgm:cxn modelId="{05CACE48-E432-4018-8315-05D0F102B2AD}" type="presParOf" srcId="{0754F172-DF2C-4879-976A-E0C96D269885}" destId="{A3447467-A717-4B2F-948B-CC402DD004BB}" srcOrd="2" destOrd="0" presId="urn:microsoft.com/office/officeart/2005/8/layout/hierarchy3"/>
    <dgm:cxn modelId="{2FC1056A-8859-4691-9AC6-07162FF9DCD8}" type="presParOf" srcId="{0754F172-DF2C-4879-976A-E0C96D269885}" destId="{F7367F25-D813-496E-A8A4-4B7014DA5A43}" srcOrd="3" destOrd="0" presId="urn:microsoft.com/office/officeart/2005/8/layout/hierarchy3"/>
    <dgm:cxn modelId="{595A8B44-21AC-4167-9BAF-BED79F161552}" type="presParOf" srcId="{D90162E8-4E8F-47B3-B52E-D643E4765F2E}" destId="{3B2E96D4-EC3D-4CEF-B27D-93AAA8B7A33F}" srcOrd="2" destOrd="0" presId="urn:microsoft.com/office/officeart/2005/8/layout/hierarchy3"/>
    <dgm:cxn modelId="{37E384E7-BBD7-4736-8B68-021CA58552E1}" type="presParOf" srcId="{3B2E96D4-EC3D-4CEF-B27D-93AAA8B7A33F}" destId="{ED7DE40F-CA2C-4C31-81E0-5C1A3FCACB4B}" srcOrd="0" destOrd="0" presId="urn:microsoft.com/office/officeart/2005/8/layout/hierarchy3"/>
    <dgm:cxn modelId="{C9BFB38D-DD20-4490-9BE0-9CCF73D67D2C}" type="presParOf" srcId="{ED7DE40F-CA2C-4C31-81E0-5C1A3FCACB4B}" destId="{5E83D0DA-E29E-465F-BF1D-1E84DA315A6D}" srcOrd="0" destOrd="0" presId="urn:microsoft.com/office/officeart/2005/8/layout/hierarchy3"/>
    <dgm:cxn modelId="{0948164A-2336-474A-A141-E996BE610B18}" type="presParOf" srcId="{ED7DE40F-CA2C-4C31-81E0-5C1A3FCACB4B}" destId="{01A16689-FC87-4364-9890-A5D867319D1A}" srcOrd="1" destOrd="0" presId="urn:microsoft.com/office/officeart/2005/8/layout/hierarchy3"/>
    <dgm:cxn modelId="{870D3075-8FAC-4FD2-A199-098EB3B4FCF8}" type="presParOf" srcId="{3B2E96D4-EC3D-4CEF-B27D-93AAA8B7A33F}" destId="{600940E2-E8F3-499E-9FC9-829A7267552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C0387E-DC6D-4824-B695-EC4CA3B99C8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0DD2140-F6B3-40EE-930D-C66AE9C7E61E}">
      <dgm:prSet/>
      <dgm:spPr/>
      <dgm:t>
        <a:bodyPr/>
        <a:lstStyle/>
        <a:p>
          <a:r>
            <a:rPr lang="pl-PL" b="1" i="0" baseline="0"/>
            <a:t>Hermetyzacja (Enkapsulacja):</a:t>
          </a:r>
          <a:r>
            <a:rPr lang="pl-PL" b="0" i="0" baseline="0"/>
            <a:t> Ukrywanie wewnętrznego stanu obiektu. Dostęp do danych tylko przez metody publiczne (gettery/settery), co chroni przed błędami.</a:t>
          </a:r>
          <a:endParaRPr lang="en-US"/>
        </a:p>
      </dgm:t>
    </dgm:pt>
    <dgm:pt modelId="{1C8BB297-7FF4-42F5-AD99-DA872ABA1388}" type="parTrans" cxnId="{25BCBF65-5F3C-4FBC-A77A-A6A3D5BE9A8B}">
      <dgm:prSet/>
      <dgm:spPr/>
      <dgm:t>
        <a:bodyPr/>
        <a:lstStyle/>
        <a:p>
          <a:endParaRPr lang="en-US"/>
        </a:p>
      </dgm:t>
    </dgm:pt>
    <dgm:pt modelId="{3DD1B519-6D3F-42BA-B3E4-393388F558FE}" type="sibTrans" cxnId="{25BCBF65-5F3C-4FBC-A77A-A6A3D5BE9A8B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8F6B94E-6CD0-4E13-86C3-2E87F2C2E44B}">
      <dgm:prSet/>
      <dgm:spPr/>
      <dgm:t>
        <a:bodyPr/>
        <a:lstStyle/>
        <a:p>
          <a:r>
            <a:rPr lang="pl-PL" b="1" i="0" baseline="0"/>
            <a:t>Dziedziczenie (Inheritance):</a:t>
          </a:r>
          <a:r>
            <a:rPr lang="pl-PL" b="0" i="0" baseline="0"/>
            <a:t> Tworzenie klas pochodnych na bazie istniejących (np. Samochód dziedziczy po Pojeździe). Pozwala na rozszerzanie funkcjonalności bez przepisywania kodu.</a:t>
          </a:r>
          <a:endParaRPr lang="en-US"/>
        </a:p>
      </dgm:t>
    </dgm:pt>
    <dgm:pt modelId="{5AC9727B-1858-4CF8-A15F-B391039DB3E1}" type="parTrans" cxnId="{255BEB69-C9A0-4773-AF50-14F3CDD8F1C5}">
      <dgm:prSet/>
      <dgm:spPr/>
      <dgm:t>
        <a:bodyPr/>
        <a:lstStyle/>
        <a:p>
          <a:endParaRPr lang="en-US"/>
        </a:p>
      </dgm:t>
    </dgm:pt>
    <dgm:pt modelId="{973C202A-0414-45E1-98F3-0B63B3B3BD91}" type="sibTrans" cxnId="{255BEB69-C9A0-4773-AF50-14F3CDD8F1C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B01EA1E-A3EB-4DB2-BF76-C028DAD5776B}">
      <dgm:prSet/>
      <dgm:spPr/>
      <dgm:t>
        <a:bodyPr/>
        <a:lstStyle/>
        <a:p>
          <a:r>
            <a:rPr lang="pl-PL" b="1" i="0" baseline="0"/>
            <a:t>Polimorfizm:</a:t>
          </a:r>
          <a:r>
            <a:rPr lang="pl-PL" b="0" i="0" baseline="0"/>
            <a:t> Zdolność obiektów różnych klas do reagowania na to samo wywołanie metody w specyficzny dla siebie sposób (np. metoda jedź działa inaczej dla auta i motocykla).</a:t>
          </a:r>
          <a:endParaRPr lang="en-US"/>
        </a:p>
      </dgm:t>
    </dgm:pt>
    <dgm:pt modelId="{D578BD6E-A164-4A13-A0E8-6266CEF7D544}" type="parTrans" cxnId="{FC085640-CBC9-4697-A56C-0EBD477F8A48}">
      <dgm:prSet/>
      <dgm:spPr/>
      <dgm:t>
        <a:bodyPr/>
        <a:lstStyle/>
        <a:p>
          <a:endParaRPr lang="en-US"/>
        </a:p>
      </dgm:t>
    </dgm:pt>
    <dgm:pt modelId="{AA28DAC9-436A-42FA-93FC-F6F813220666}" type="sibTrans" cxnId="{FC085640-CBC9-4697-A56C-0EBD477F8A48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3AF32A77-0658-4080-9B6E-134CA74FE7A4}">
      <dgm:prSet/>
      <dgm:spPr/>
      <dgm:t>
        <a:bodyPr/>
        <a:lstStyle/>
        <a:p>
          <a:r>
            <a:rPr lang="pl-PL" b="1" i="0" baseline="0"/>
            <a:t>Abstrakcja:</a:t>
          </a:r>
          <a:r>
            <a:rPr lang="pl-PL" b="0" i="0" baseline="0"/>
            <a:t> Ukrywanie skomplikowanych detali implementacyjnych, udostępnianie prostego interfejsu (np. pedał gazu zamiast mechanizmu wtrysku).</a:t>
          </a:r>
          <a:endParaRPr lang="en-US"/>
        </a:p>
      </dgm:t>
    </dgm:pt>
    <dgm:pt modelId="{E90DEAE9-86E7-4954-9CF3-2ACF808161A9}" type="parTrans" cxnId="{9B1BD3CD-605E-40DD-BF1A-52E3D0DE85CB}">
      <dgm:prSet/>
      <dgm:spPr/>
      <dgm:t>
        <a:bodyPr/>
        <a:lstStyle/>
        <a:p>
          <a:endParaRPr lang="en-US"/>
        </a:p>
      </dgm:t>
    </dgm:pt>
    <dgm:pt modelId="{804B7B16-7AAF-440B-AC3E-DC97AF6A588A}" type="sibTrans" cxnId="{9B1BD3CD-605E-40DD-BF1A-52E3D0DE85CB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22D29E67-4CB8-4522-9156-771EB3A5D7B4}" type="pres">
      <dgm:prSet presAssocID="{6EC0387E-DC6D-4824-B695-EC4CA3B99C89}" presName="Name0" presStyleCnt="0">
        <dgm:presLayoutVars>
          <dgm:animLvl val="lvl"/>
          <dgm:resizeHandles val="exact"/>
        </dgm:presLayoutVars>
      </dgm:prSet>
      <dgm:spPr/>
    </dgm:pt>
    <dgm:pt modelId="{07CD06EC-D892-425A-9366-9637035BFDBD}" type="pres">
      <dgm:prSet presAssocID="{C0DD2140-F6B3-40EE-930D-C66AE9C7E61E}" presName="compositeNode" presStyleCnt="0">
        <dgm:presLayoutVars>
          <dgm:bulletEnabled val="1"/>
        </dgm:presLayoutVars>
      </dgm:prSet>
      <dgm:spPr/>
    </dgm:pt>
    <dgm:pt modelId="{16A67C9F-0865-4221-8B2A-0A95DFA20516}" type="pres">
      <dgm:prSet presAssocID="{C0DD2140-F6B3-40EE-930D-C66AE9C7E61E}" presName="bgRect" presStyleLbl="alignNode1" presStyleIdx="0" presStyleCnt="4"/>
      <dgm:spPr/>
    </dgm:pt>
    <dgm:pt modelId="{98801870-BEEB-4DA3-97C8-4D09715DD5CA}" type="pres">
      <dgm:prSet presAssocID="{3DD1B519-6D3F-42BA-B3E4-393388F558FE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1D5268A6-690A-469A-A9DA-4564223FC2D5}" type="pres">
      <dgm:prSet presAssocID="{C0DD2140-F6B3-40EE-930D-C66AE9C7E61E}" presName="nodeRect" presStyleLbl="alignNode1" presStyleIdx="0" presStyleCnt="4">
        <dgm:presLayoutVars>
          <dgm:bulletEnabled val="1"/>
        </dgm:presLayoutVars>
      </dgm:prSet>
      <dgm:spPr/>
    </dgm:pt>
    <dgm:pt modelId="{50B48C0F-C3F2-4C80-A67F-BF53A4CFA4B3}" type="pres">
      <dgm:prSet presAssocID="{3DD1B519-6D3F-42BA-B3E4-393388F558FE}" presName="sibTrans" presStyleCnt="0"/>
      <dgm:spPr/>
    </dgm:pt>
    <dgm:pt modelId="{ABA12982-0994-457C-9957-6C4C0F93208B}" type="pres">
      <dgm:prSet presAssocID="{18F6B94E-6CD0-4E13-86C3-2E87F2C2E44B}" presName="compositeNode" presStyleCnt="0">
        <dgm:presLayoutVars>
          <dgm:bulletEnabled val="1"/>
        </dgm:presLayoutVars>
      </dgm:prSet>
      <dgm:spPr/>
    </dgm:pt>
    <dgm:pt modelId="{F432CCD3-7AB2-4651-BDD8-CDF53101545B}" type="pres">
      <dgm:prSet presAssocID="{18F6B94E-6CD0-4E13-86C3-2E87F2C2E44B}" presName="bgRect" presStyleLbl="alignNode1" presStyleIdx="1" presStyleCnt="4"/>
      <dgm:spPr/>
    </dgm:pt>
    <dgm:pt modelId="{1FF45011-C043-44CB-8268-DBD2961C31B5}" type="pres">
      <dgm:prSet presAssocID="{973C202A-0414-45E1-98F3-0B63B3B3BD91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A687378F-F76A-4708-929A-D7A3632F1952}" type="pres">
      <dgm:prSet presAssocID="{18F6B94E-6CD0-4E13-86C3-2E87F2C2E44B}" presName="nodeRect" presStyleLbl="alignNode1" presStyleIdx="1" presStyleCnt="4">
        <dgm:presLayoutVars>
          <dgm:bulletEnabled val="1"/>
        </dgm:presLayoutVars>
      </dgm:prSet>
      <dgm:spPr/>
    </dgm:pt>
    <dgm:pt modelId="{E4144A57-78BA-43C1-804B-2B3A2DE70E21}" type="pres">
      <dgm:prSet presAssocID="{973C202A-0414-45E1-98F3-0B63B3B3BD91}" presName="sibTrans" presStyleCnt="0"/>
      <dgm:spPr/>
    </dgm:pt>
    <dgm:pt modelId="{0A40EFBD-03CD-4855-A733-C0C634BE3E3A}" type="pres">
      <dgm:prSet presAssocID="{4B01EA1E-A3EB-4DB2-BF76-C028DAD5776B}" presName="compositeNode" presStyleCnt="0">
        <dgm:presLayoutVars>
          <dgm:bulletEnabled val="1"/>
        </dgm:presLayoutVars>
      </dgm:prSet>
      <dgm:spPr/>
    </dgm:pt>
    <dgm:pt modelId="{C2F6DCEE-A392-47D7-BCE7-9DD6AAA8D288}" type="pres">
      <dgm:prSet presAssocID="{4B01EA1E-A3EB-4DB2-BF76-C028DAD5776B}" presName="bgRect" presStyleLbl="alignNode1" presStyleIdx="2" presStyleCnt="4"/>
      <dgm:spPr/>
    </dgm:pt>
    <dgm:pt modelId="{9E0C713F-3793-471D-A43B-D32ABA8AD2D4}" type="pres">
      <dgm:prSet presAssocID="{AA28DAC9-436A-42FA-93FC-F6F813220666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CC59ED22-0140-48EF-B912-D9F4D6876221}" type="pres">
      <dgm:prSet presAssocID="{4B01EA1E-A3EB-4DB2-BF76-C028DAD5776B}" presName="nodeRect" presStyleLbl="alignNode1" presStyleIdx="2" presStyleCnt="4">
        <dgm:presLayoutVars>
          <dgm:bulletEnabled val="1"/>
        </dgm:presLayoutVars>
      </dgm:prSet>
      <dgm:spPr/>
    </dgm:pt>
    <dgm:pt modelId="{32DC5F06-25BE-43B0-B36A-79A2F79CE742}" type="pres">
      <dgm:prSet presAssocID="{AA28DAC9-436A-42FA-93FC-F6F813220666}" presName="sibTrans" presStyleCnt="0"/>
      <dgm:spPr/>
    </dgm:pt>
    <dgm:pt modelId="{CF5A0AA9-7288-4556-B572-FCF892AB3A31}" type="pres">
      <dgm:prSet presAssocID="{3AF32A77-0658-4080-9B6E-134CA74FE7A4}" presName="compositeNode" presStyleCnt="0">
        <dgm:presLayoutVars>
          <dgm:bulletEnabled val="1"/>
        </dgm:presLayoutVars>
      </dgm:prSet>
      <dgm:spPr/>
    </dgm:pt>
    <dgm:pt modelId="{C15D2062-557F-4B63-8B4B-E6248CE7E820}" type="pres">
      <dgm:prSet presAssocID="{3AF32A77-0658-4080-9B6E-134CA74FE7A4}" presName="bgRect" presStyleLbl="alignNode1" presStyleIdx="3" presStyleCnt="4"/>
      <dgm:spPr/>
    </dgm:pt>
    <dgm:pt modelId="{00581E68-7D6A-4BFC-97B7-887FF855A0F6}" type="pres">
      <dgm:prSet presAssocID="{804B7B16-7AAF-440B-AC3E-DC97AF6A588A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D86A7318-6977-4CFC-8236-E0AB0C422ED9}" type="pres">
      <dgm:prSet presAssocID="{3AF32A77-0658-4080-9B6E-134CA74FE7A4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1BC32102-E57B-4AE0-8DE1-E54D208B792D}" type="presOf" srcId="{3AF32A77-0658-4080-9B6E-134CA74FE7A4}" destId="{D86A7318-6977-4CFC-8236-E0AB0C422ED9}" srcOrd="1" destOrd="0" presId="urn:microsoft.com/office/officeart/2016/7/layout/LinearBlockProcessNumbered"/>
    <dgm:cxn modelId="{180DD609-263B-4C74-B3EC-52E76D8F1019}" type="presOf" srcId="{6EC0387E-DC6D-4824-B695-EC4CA3B99C89}" destId="{22D29E67-4CB8-4522-9156-771EB3A5D7B4}" srcOrd="0" destOrd="0" presId="urn:microsoft.com/office/officeart/2016/7/layout/LinearBlockProcessNumbered"/>
    <dgm:cxn modelId="{D164360B-F763-48A2-AD27-51A1572FA1AB}" type="presOf" srcId="{973C202A-0414-45E1-98F3-0B63B3B3BD91}" destId="{1FF45011-C043-44CB-8268-DBD2961C31B5}" srcOrd="0" destOrd="0" presId="urn:microsoft.com/office/officeart/2016/7/layout/LinearBlockProcessNumbered"/>
    <dgm:cxn modelId="{525BF515-5281-45BE-B4AF-A14DB43A076C}" type="presOf" srcId="{3DD1B519-6D3F-42BA-B3E4-393388F558FE}" destId="{98801870-BEEB-4DA3-97C8-4D09715DD5CA}" srcOrd="0" destOrd="0" presId="urn:microsoft.com/office/officeart/2016/7/layout/LinearBlockProcessNumbered"/>
    <dgm:cxn modelId="{FC085640-CBC9-4697-A56C-0EBD477F8A48}" srcId="{6EC0387E-DC6D-4824-B695-EC4CA3B99C89}" destId="{4B01EA1E-A3EB-4DB2-BF76-C028DAD5776B}" srcOrd="2" destOrd="0" parTransId="{D578BD6E-A164-4A13-A0E8-6266CEF7D544}" sibTransId="{AA28DAC9-436A-42FA-93FC-F6F813220666}"/>
    <dgm:cxn modelId="{25BCBF65-5F3C-4FBC-A77A-A6A3D5BE9A8B}" srcId="{6EC0387E-DC6D-4824-B695-EC4CA3B99C89}" destId="{C0DD2140-F6B3-40EE-930D-C66AE9C7E61E}" srcOrd="0" destOrd="0" parTransId="{1C8BB297-7FF4-42F5-AD99-DA872ABA1388}" sibTransId="{3DD1B519-6D3F-42BA-B3E4-393388F558FE}"/>
    <dgm:cxn modelId="{255BEB69-C9A0-4773-AF50-14F3CDD8F1C5}" srcId="{6EC0387E-DC6D-4824-B695-EC4CA3B99C89}" destId="{18F6B94E-6CD0-4E13-86C3-2E87F2C2E44B}" srcOrd="1" destOrd="0" parTransId="{5AC9727B-1858-4CF8-A15F-B391039DB3E1}" sibTransId="{973C202A-0414-45E1-98F3-0B63B3B3BD91}"/>
    <dgm:cxn modelId="{DC34C674-93F3-481A-ACB9-1B18E7C14F1B}" type="presOf" srcId="{C0DD2140-F6B3-40EE-930D-C66AE9C7E61E}" destId="{1D5268A6-690A-469A-A9DA-4564223FC2D5}" srcOrd="1" destOrd="0" presId="urn:microsoft.com/office/officeart/2016/7/layout/LinearBlockProcessNumbered"/>
    <dgm:cxn modelId="{51F60355-62F9-4E33-A8C6-301AC41DC255}" type="presOf" srcId="{804B7B16-7AAF-440B-AC3E-DC97AF6A588A}" destId="{00581E68-7D6A-4BFC-97B7-887FF855A0F6}" srcOrd="0" destOrd="0" presId="urn:microsoft.com/office/officeart/2016/7/layout/LinearBlockProcessNumbered"/>
    <dgm:cxn modelId="{4333F0B2-D858-4960-A497-162831A0300C}" type="presOf" srcId="{AA28DAC9-436A-42FA-93FC-F6F813220666}" destId="{9E0C713F-3793-471D-A43B-D32ABA8AD2D4}" srcOrd="0" destOrd="0" presId="urn:microsoft.com/office/officeart/2016/7/layout/LinearBlockProcessNumbered"/>
    <dgm:cxn modelId="{D55CFEB9-1508-443A-AC58-6BB99E48C4BE}" type="presOf" srcId="{C0DD2140-F6B3-40EE-930D-C66AE9C7E61E}" destId="{16A67C9F-0865-4221-8B2A-0A95DFA20516}" srcOrd="0" destOrd="0" presId="urn:microsoft.com/office/officeart/2016/7/layout/LinearBlockProcessNumbered"/>
    <dgm:cxn modelId="{F8D166BA-1513-442D-A3BA-34D539107083}" type="presOf" srcId="{4B01EA1E-A3EB-4DB2-BF76-C028DAD5776B}" destId="{CC59ED22-0140-48EF-B912-D9F4D6876221}" srcOrd="1" destOrd="0" presId="urn:microsoft.com/office/officeart/2016/7/layout/LinearBlockProcessNumbered"/>
    <dgm:cxn modelId="{0568B9CA-9C17-40FC-8A27-788CE521241A}" type="presOf" srcId="{4B01EA1E-A3EB-4DB2-BF76-C028DAD5776B}" destId="{C2F6DCEE-A392-47D7-BCE7-9DD6AAA8D288}" srcOrd="0" destOrd="0" presId="urn:microsoft.com/office/officeart/2016/7/layout/LinearBlockProcessNumbered"/>
    <dgm:cxn modelId="{7A9E91CB-C6C0-4D42-9591-48D5AFCC1543}" type="presOf" srcId="{3AF32A77-0658-4080-9B6E-134CA74FE7A4}" destId="{C15D2062-557F-4B63-8B4B-E6248CE7E820}" srcOrd="0" destOrd="0" presId="urn:microsoft.com/office/officeart/2016/7/layout/LinearBlockProcessNumbered"/>
    <dgm:cxn modelId="{9B1BD3CD-605E-40DD-BF1A-52E3D0DE85CB}" srcId="{6EC0387E-DC6D-4824-B695-EC4CA3B99C89}" destId="{3AF32A77-0658-4080-9B6E-134CA74FE7A4}" srcOrd="3" destOrd="0" parTransId="{E90DEAE9-86E7-4954-9CF3-2ACF808161A9}" sibTransId="{804B7B16-7AAF-440B-AC3E-DC97AF6A588A}"/>
    <dgm:cxn modelId="{A6C77FF9-5DE8-4062-94AA-87555A092E19}" type="presOf" srcId="{18F6B94E-6CD0-4E13-86C3-2E87F2C2E44B}" destId="{F432CCD3-7AB2-4651-BDD8-CDF53101545B}" srcOrd="0" destOrd="0" presId="urn:microsoft.com/office/officeart/2016/7/layout/LinearBlockProcessNumbered"/>
    <dgm:cxn modelId="{76FF26FF-99AE-42FE-AD08-43D4684C2A35}" type="presOf" srcId="{18F6B94E-6CD0-4E13-86C3-2E87F2C2E44B}" destId="{A687378F-F76A-4708-929A-D7A3632F1952}" srcOrd="1" destOrd="0" presId="urn:microsoft.com/office/officeart/2016/7/layout/LinearBlockProcessNumbered"/>
    <dgm:cxn modelId="{E90E4FBF-5131-495D-8D5A-61E5F07305C3}" type="presParOf" srcId="{22D29E67-4CB8-4522-9156-771EB3A5D7B4}" destId="{07CD06EC-D892-425A-9366-9637035BFDBD}" srcOrd="0" destOrd="0" presId="urn:microsoft.com/office/officeart/2016/7/layout/LinearBlockProcessNumbered"/>
    <dgm:cxn modelId="{F2823D34-F610-4979-81BF-EBE027682D6D}" type="presParOf" srcId="{07CD06EC-D892-425A-9366-9637035BFDBD}" destId="{16A67C9F-0865-4221-8B2A-0A95DFA20516}" srcOrd="0" destOrd="0" presId="urn:microsoft.com/office/officeart/2016/7/layout/LinearBlockProcessNumbered"/>
    <dgm:cxn modelId="{99FB83AD-2459-407C-B384-D8977CCD57CB}" type="presParOf" srcId="{07CD06EC-D892-425A-9366-9637035BFDBD}" destId="{98801870-BEEB-4DA3-97C8-4D09715DD5CA}" srcOrd="1" destOrd="0" presId="urn:microsoft.com/office/officeart/2016/7/layout/LinearBlockProcessNumbered"/>
    <dgm:cxn modelId="{1741B8C3-2D53-4A57-97C9-BBF089DD27B2}" type="presParOf" srcId="{07CD06EC-D892-425A-9366-9637035BFDBD}" destId="{1D5268A6-690A-469A-A9DA-4564223FC2D5}" srcOrd="2" destOrd="0" presId="urn:microsoft.com/office/officeart/2016/7/layout/LinearBlockProcessNumbered"/>
    <dgm:cxn modelId="{73EC8DCD-B679-4163-BAD0-EEFDF7B7E36F}" type="presParOf" srcId="{22D29E67-4CB8-4522-9156-771EB3A5D7B4}" destId="{50B48C0F-C3F2-4C80-A67F-BF53A4CFA4B3}" srcOrd="1" destOrd="0" presId="urn:microsoft.com/office/officeart/2016/7/layout/LinearBlockProcessNumbered"/>
    <dgm:cxn modelId="{6CA91D93-D73F-403F-9E7C-37D16590F317}" type="presParOf" srcId="{22D29E67-4CB8-4522-9156-771EB3A5D7B4}" destId="{ABA12982-0994-457C-9957-6C4C0F93208B}" srcOrd="2" destOrd="0" presId="urn:microsoft.com/office/officeart/2016/7/layout/LinearBlockProcessNumbered"/>
    <dgm:cxn modelId="{447C743B-F83E-4FB0-88E4-29AC3C84C9F0}" type="presParOf" srcId="{ABA12982-0994-457C-9957-6C4C0F93208B}" destId="{F432CCD3-7AB2-4651-BDD8-CDF53101545B}" srcOrd="0" destOrd="0" presId="urn:microsoft.com/office/officeart/2016/7/layout/LinearBlockProcessNumbered"/>
    <dgm:cxn modelId="{5F15CA60-AC10-4505-9382-A8F983CB2147}" type="presParOf" srcId="{ABA12982-0994-457C-9957-6C4C0F93208B}" destId="{1FF45011-C043-44CB-8268-DBD2961C31B5}" srcOrd="1" destOrd="0" presId="urn:microsoft.com/office/officeart/2016/7/layout/LinearBlockProcessNumbered"/>
    <dgm:cxn modelId="{594189EC-F6BE-4ECD-A6AC-973EABE16D46}" type="presParOf" srcId="{ABA12982-0994-457C-9957-6C4C0F93208B}" destId="{A687378F-F76A-4708-929A-D7A3632F1952}" srcOrd="2" destOrd="0" presId="urn:microsoft.com/office/officeart/2016/7/layout/LinearBlockProcessNumbered"/>
    <dgm:cxn modelId="{715FEA7C-17F8-4E20-8EE1-49D8D797E365}" type="presParOf" srcId="{22D29E67-4CB8-4522-9156-771EB3A5D7B4}" destId="{E4144A57-78BA-43C1-804B-2B3A2DE70E21}" srcOrd="3" destOrd="0" presId="urn:microsoft.com/office/officeart/2016/7/layout/LinearBlockProcessNumbered"/>
    <dgm:cxn modelId="{4A422943-F82A-455E-8590-730A84FD8653}" type="presParOf" srcId="{22D29E67-4CB8-4522-9156-771EB3A5D7B4}" destId="{0A40EFBD-03CD-4855-A733-C0C634BE3E3A}" srcOrd="4" destOrd="0" presId="urn:microsoft.com/office/officeart/2016/7/layout/LinearBlockProcessNumbered"/>
    <dgm:cxn modelId="{D11FCADD-8151-4867-A005-F79A987987E8}" type="presParOf" srcId="{0A40EFBD-03CD-4855-A733-C0C634BE3E3A}" destId="{C2F6DCEE-A392-47D7-BCE7-9DD6AAA8D288}" srcOrd="0" destOrd="0" presId="urn:microsoft.com/office/officeart/2016/7/layout/LinearBlockProcessNumbered"/>
    <dgm:cxn modelId="{7E7B4B23-DAFC-46B0-97C1-CBC37124A2B2}" type="presParOf" srcId="{0A40EFBD-03CD-4855-A733-C0C634BE3E3A}" destId="{9E0C713F-3793-471D-A43B-D32ABA8AD2D4}" srcOrd="1" destOrd="0" presId="urn:microsoft.com/office/officeart/2016/7/layout/LinearBlockProcessNumbered"/>
    <dgm:cxn modelId="{FC73A476-37F7-4434-A476-28986FB45C2A}" type="presParOf" srcId="{0A40EFBD-03CD-4855-A733-C0C634BE3E3A}" destId="{CC59ED22-0140-48EF-B912-D9F4D6876221}" srcOrd="2" destOrd="0" presId="urn:microsoft.com/office/officeart/2016/7/layout/LinearBlockProcessNumbered"/>
    <dgm:cxn modelId="{9FAA6D57-C138-49DC-B5F9-045B65AB8B2F}" type="presParOf" srcId="{22D29E67-4CB8-4522-9156-771EB3A5D7B4}" destId="{32DC5F06-25BE-43B0-B36A-79A2F79CE742}" srcOrd="5" destOrd="0" presId="urn:microsoft.com/office/officeart/2016/7/layout/LinearBlockProcessNumbered"/>
    <dgm:cxn modelId="{BA5FE1E6-696F-4EC0-80E2-AED5872F2020}" type="presParOf" srcId="{22D29E67-4CB8-4522-9156-771EB3A5D7B4}" destId="{CF5A0AA9-7288-4556-B572-FCF892AB3A31}" srcOrd="6" destOrd="0" presId="urn:microsoft.com/office/officeart/2016/7/layout/LinearBlockProcessNumbered"/>
    <dgm:cxn modelId="{9251039F-6B85-471D-BF7B-B22464AEFC1A}" type="presParOf" srcId="{CF5A0AA9-7288-4556-B572-FCF892AB3A31}" destId="{C15D2062-557F-4B63-8B4B-E6248CE7E820}" srcOrd="0" destOrd="0" presId="urn:microsoft.com/office/officeart/2016/7/layout/LinearBlockProcessNumbered"/>
    <dgm:cxn modelId="{B9B43FCE-A041-4EA5-A72E-936D9232342F}" type="presParOf" srcId="{CF5A0AA9-7288-4556-B572-FCF892AB3A31}" destId="{00581E68-7D6A-4BFC-97B7-887FF855A0F6}" srcOrd="1" destOrd="0" presId="urn:microsoft.com/office/officeart/2016/7/layout/LinearBlockProcessNumbered"/>
    <dgm:cxn modelId="{29515668-E0CD-41EE-B0FE-BC5F661674E3}" type="presParOf" srcId="{CF5A0AA9-7288-4556-B572-FCF892AB3A31}" destId="{D86A7318-6977-4CFC-8236-E0AB0C422ED9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D8B45-D785-416A-8E3A-9E6A9A0D3718}">
      <dsp:nvSpPr>
        <dsp:cNvPr id="0" name=""/>
        <dsp:cNvSpPr/>
      </dsp:nvSpPr>
      <dsp:spPr>
        <a:xfrm>
          <a:off x="750" y="978783"/>
          <a:ext cx="1755219" cy="8776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i="0" kern="1200" baseline="0"/>
            <a:t>Klasa (Class):</a:t>
          </a:r>
          <a:endParaRPr lang="en-US" sz="1200" kern="1200"/>
        </a:p>
      </dsp:txBody>
      <dsp:txXfrm>
        <a:off x="26454" y="1004487"/>
        <a:ext cx="1703811" cy="826201"/>
      </dsp:txXfrm>
    </dsp:sp>
    <dsp:sp modelId="{F903E9DB-36E4-4937-B34F-4050DE0DC7A9}">
      <dsp:nvSpPr>
        <dsp:cNvPr id="0" name=""/>
        <dsp:cNvSpPr/>
      </dsp:nvSpPr>
      <dsp:spPr>
        <a:xfrm>
          <a:off x="176272" y="1856392"/>
          <a:ext cx="175521" cy="658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8207"/>
              </a:lnTo>
              <a:lnTo>
                <a:pt x="175521" y="6582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8536E8-B90D-41ED-AA6B-556ADC068522}">
      <dsp:nvSpPr>
        <dsp:cNvPr id="0" name=""/>
        <dsp:cNvSpPr/>
      </dsp:nvSpPr>
      <dsp:spPr>
        <a:xfrm>
          <a:off x="351793" y="2075795"/>
          <a:ext cx="1404175" cy="8776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b="0" i="0" kern="1200" baseline="0"/>
            <a:t>To plan, szablon lub projekt (np. definicja "Samochodu").</a:t>
          </a:r>
          <a:endParaRPr lang="en-US" sz="1000" kern="1200"/>
        </a:p>
      </dsp:txBody>
      <dsp:txXfrm>
        <a:off x="377497" y="2101499"/>
        <a:ext cx="1352767" cy="826201"/>
      </dsp:txXfrm>
    </dsp:sp>
    <dsp:sp modelId="{8E1768A6-3B27-44D4-80A8-6EFA063A19DC}">
      <dsp:nvSpPr>
        <dsp:cNvPr id="0" name=""/>
        <dsp:cNvSpPr/>
      </dsp:nvSpPr>
      <dsp:spPr>
        <a:xfrm>
          <a:off x="176272" y="1856392"/>
          <a:ext cx="175521" cy="1755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5219"/>
              </a:lnTo>
              <a:lnTo>
                <a:pt x="175521" y="175521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8BEE8B-CF2A-4B29-A567-395D149985FD}">
      <dsp:nvSpPr>
        <dsp:cNvPr id="0" name=""/>
        <dsp:cNvSpPr/>
      </dsp:nvSpPr>
      <dsp:spPr>
        <a:xfrm>
          <a:off x="351793" y="3172807"/>
          <a:ext cx="1404175" cy="8776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b="0" i="0" kern="1200" baseline="0"/>
            <a:t>Opisuje cechy i zachowania, ale sama nie jest bytem fizycznym.</a:t>
          </a:r>
          <a:endParaRPr lang="en-US" sz="1000" kern="1200"/>
        </a:p>
      </dsp:txBody>
      <dsp:txXfrm>
        <a:off x="377497" y="3198511"/>
        <a:ext cx="1352767" cy="826201"/>
      </dsp:txXfrm>
    </dsp:sp>
    <dsp:sp modelId="{E44CF10E-D789-4CB4-8879-E0A49A50ACC5}">
      <dsp:nvSpPr>
        <dsp:cNvPr id="0" name=""/>
        <dsp:cNvSpPr/>
      </dsp:nvSpPr>
      <dsp:spPr>
        <a:xfrm>
          <a:off x="2194774" y="978783"/>
          <a:ext cx="1755219" cy="8776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i="0" kern="1200" baseline="0"/>
            <a:t>Obiekt (Object):</a:t>
          </a:r>
          <a:endParaRPr lang="en-US" sz="1200" kern="1200"/>
        </a:p>
      </dsp:txBody>
      <dsp:txXfrm>
        <a:off x="2220478" y="1004487"/>
        <a:ext cx="1703811" cy="826201"/>
      </dsp:txXfrm>
    </dsp:sp>
    <dsp:sp modelId="{11B69D61-D22B-4E49-90C1-34FBAD3068A3}">
      <dsp:nvSpPr>
        <dsp:cNvPr id="0" name=""/>
        <dsp:cNvSpPr/>
      </dsp:nvSpPr>
      <dsp:spPr>
        <a:xfrm>
          <a:off x="2370296" y="1856392"/>
          <a:ext cx="175521" cy="658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8207"/>
              </a:lnTo>
              <a:lnTo>
                <a:pt x="175521" y="6582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BFF215-4D00-4763-BEA8-4CE0CC14995A}">
      <dsp:nvSpPr>
        <dsp:cNvPr id="0" name=""/>
        <dsp:cNvSpPr/>
      </dsp:nvSpPr>
      <dsp:spPr>
        <a:xfrm>
          <a:off x="2545818" y="2075795"/>
          <a:ext cx="1404175" cy="8776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b="0" i="0" kern="1200" baseline="0"/>
            <a:t>Konkretna instancja klasy stworzona na podstawie planu (instancjacja).</a:t>
          </a:r>
          <a:endParaRPr lang="en-US" sz="1000" kern="1200"/>
        </a:p>
      </dsp:txBody>
      <dsp:txXfrm>
        <a:off x="2571522" y="2101499"/>
        <a:ext cx="1352767" cy="826201"/>
      </dsp:txXfrm>
    </dsp:sp>
    <dsp:sp modelId="{A3447467-A717-4B2F-948B-CC402DD004BB}">
      <dsp:nvSpPr>
        <dsp:cNvPr id="0" name=""/>
        <dsp:cNvSpPr/>
      </dsp:nvSpPr>
      <dsp:spPr>
        <a:xfrm>
          <a:off x="2370296" y="1856392"/>
          <a:ext cx="175521" cy="1755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5219"/>
              </a:lnTo>
              <a:lnTo>
                <a:pt x="175521" y="175521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67F25-D813-496E-A8A4-4B7014DA5A43}">
      <dsp:nvSpPr>
        <dsp:cNvPr id="0" name=""/>
        <dsp:cNvSpPr/>
      </dsp:nvSpPr>
      <dsp:spPr>
        <a:xfrm>
          <a:off x="2545818" y="3172807"/>
          <a:ext cx="1404175" cy="8776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b="0" i="0" kern="1200" baseline="0"/>
            <a:t>Przykład: mojeAuto (Ferrari) vs autoSasiada (Fiat) – mają te same metody, ale różne dane .</a:t>
          </a:r>
          <a:endParaRPr lang="en-US" sz="1000" kern="1200"/>
        </a:p>
      </dsp:txBody>
      <dsp:txXfrm>
        <a:off x="2571522" y="3198511"/>
        <a:ext cx="1352767" cy="826201"/>
      </dsp:txXfrm>
    </dsp:sp>
    <dsp:sp modelId="{5E83D0DA-E29E-465F-BF1D-1E84DA315A6D}">
      <dsp:nvSpPr>
        <dsp:cNvPr id="0" name=""/>
        <dsp:cNvSpPr/>
      </dsp:nvSpPr>
      <dsp:spPr>
        <a:xfrm>
          <a:off x="4388798" y="978783"/>
          <a:ext cx="1755219" cy="8776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i="0" kern="1200" baseline="0"/>
            <a:t>Konstruktor:</a:t>
          </a:r>
          <a:r>
            <a:rPr lang="pl-PL" sz="1200" b="0" i="0" kern="1200" baseline="0"/>
            <a:t> Specjalna metoda do inicjalizacji początkowych wartości obiektu.</a:t>
          </a:r>
          <a:endParaRPr lang="en-US" sz="1200" kern="1200"/>
        </a:p>
      </dsp:txBody>
      <dsp:txXfrm>
        <a:off x="4414502" y="1004487"/>
        <a:ext cx="1703811" cy="8262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A67C9F-0865-4221-8B2A-0A95DFA20516}">
      <dsp:nvSpPr>
        <dsp:cNvPr id="0" name=""/>
        <dsp:cNvSpPr/>
      </dsp:nvSpPr>
      <dsp:spPr>
        <a:xfrm>
          <a:off x="217" y="304816"/>
          <a:ext cx="2631253" cy="31575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b="1" i="0" kern="1200" baseline="0"/>
            <a:t>Hermetyzacja (Enkapsulacja):</a:t>
          </a:r>
          <a:r>
            <a:rPr lang="pl-PL" sz="1300" b="0" i="0" kern="1200" baseline="0"/>
            <a:t> Ukrywanie wewnętrznego stanu obiektu. Dostęp do danych tylko przez metody publiczne (gettery/settery), co chroni przed błędami.</a:t>
          </a:r>
          <a:endParaRPr lang="en-US" sz="1300" kern="1200"/>
        </a:p>
      </dsp:txBody>
      <dsp:txXfrm>
        <a:off x="217" y="1567818"/>
        <a:ext cx="2631253" cy="1894502"/>
      </dsp:txXfrm>
    </dsp:sp>
    <dsp:sp modelId="{98801870-BEEB-4DA3-97C8-4D09715DD5CA}">
      <dsp:nvSpPr>
        <dsp:cNvPr id="0" name=""/>
        <dsp:cNvSpPr/>
      </dsp:nvSpPr>
      <dsp:spPr>
        <a:xfrm>
          <a:off x="217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17" y="304816"/>
        <a:ext cx="2631253" cy="1263001"/>
      </dsp:txXfrm>
    </dsp:sp>
    <dsp:sp modelId="{F432CCD3-7AB2-4651-BDD8-CDF53101545B}">
      <dsp:nvSpPr>
        <dsp:cNvPr id="0" name=""/>
        <dsp:cNvSpPr/>
      </dsp:nvSpPr>
      <dsp:spPr>
        <a:xfrm>
          <a:off x="2841971" y="304816"/>
          <a:ext cx="2631253" cy="315750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b="1" i="0" kern="1200" baseline="0"/>
            <a:t>Dziedziczenie (Inheritance):</a:t>
          </a:r>
          <a:r>
            <a:rPr lang="pl-PL" sz="1300" b="0" i="0" kern="1200" baseline="0"/>
            <a:t> Tworzenie klas pochodnych na bazie istniejących (np. Samochód dziedziczy po Pojeździe). Pozwala na rozszerzanie funkcjonalności bez przepisywania kodu.</a:t>
          </a:r>
          <a:endParaRPr lang="en-US" sz="1300" kern="1200"/>
        </a:p>
      </dsp:txBody>
      <dsp:txXfrm>
        <a:off x="2841971" y="1567818"/>
        <a:ext cx="2631253" cy="1894502"/>
      </dsp:txXfrm>
    </dsp:sp>
    <dsp:sp modelId="{1FF45011-C043-44CB-8268-DBD2961C31B5}">
      <dsp:nvSpPr>
        <dsp:cNvPr id="0" name=""/>
        <dsp:cNvSpPr/>
      </dsp:nvSpPr>
      <dsp:spPr>
        <a:xfrm>
          <a:off x="2841971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841971" y="304816"/>
        <a:ext cx="2631253" cy="1263001"/>
      </dsp:txXfrm>
    </dsp:sp>
    <dsp:sp modelId="{C2F6DCEE-A392-47D7-BCE7-9DD6AAA8D288}">
      <dsp:nvSpPr>
        <dsp:cNvPr id="0" name=""/>
        <dsp:cNvSpPr/>
      </dsp:nvSpPr>
      <dsp:spPr>
        <a:xfrm>
          <a:off x="5683725" y="304816"/>
          <a:ext cx="2631253" cy="31575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b="1" i="0" kern="1200" baseline="0"/>
            <a:t>Polimorfizm:</a:t>
          </a:r>
          <a:r>
            <a:rPr lang="pl-PL" sz="1300" b="0" i="0" kern="1200" baseline="0"/>
            <a:t> Zdolność obiektów różnych klas do reagowania na to samo wywołanie metody w specyficzny dla siebie sposób (np. metoda jedź działa inaczej dla auta i motocykla).</a:t>
          </a:r>
          <a:endParaRPr lang="en-US" sz="1300" kern="1200"/>
        </a:p>
      </dsp:txBody>
      <dsp:txXfrm>
        <a:off x="5683725" y="1567818"/>
        <a:ext cx="2631253" cy="1894502"/>
      </dsp:txXfrm>
    </dsp:sp>
    <dsp:sp modelId="{9E0C713F-3793-471D-A43B-D32ABA8AD2D4}">
      <dsp:nvSpPr>
        <dsp:cNvPr id="0" name=""/>
        <dsp:cNvSpPr/>
      </dsp:nvSpPr>
      <dsp:spPr>
        <a:xfrm>
          <a:off x="5683725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683725" y="304816"/>
        <a:ext cx="2631253" cy="1263001"/>
      </dsp:txXfrm>
    </dsp:sp>
    <dsp:sp modelId="{C15D2062-557F-4B63-8B4B-E6248CE7E820}">
      <dsp:nvSpPr>
        <dsp:cNvPr id="0" name=""/>
        <dsp:cNvSpPr/>
      </dsp:nvSpPr>
      <dsp:spPr>
        <a:xfrm>
          <a:off x="8525478" y="304816"/>
          <a:ext cx="2631253" cy="3157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b="1" i="0" kern="1200" baseline="0"/>
            <a:t>Abstrakcja:</a:t>
          </a:r>
          <a:r>
            <a:rPr lang="pl-PL" sz="1300" b="0" i="0" kern="1200" baseline="0"/>
            <a:t> Ukrywanie skomplikowanych detali implementacyjnych, udostępnianie prostego interfejsu (np. pedał gazu zamiast mechanizmu wtrysku).</a:t>
          </a:r>
          <a:endParaRPr lang="en-US" sz="1300" kern="1200"/>
        </a:p>
      </dsp:txBody>
      <dsp:txXfrm>
        <a:off x="8525478" y="1567818"/>
        <a:ext cx="2631253" cy="1894502"/>
      </dsp:txXfrm>
    </dsp:sp>
    <dsp:sp modelId="{00581E68-7D6A-4BFC-97B7-887FF855A0F6}">
      <dsp:nvSpPr>
        <dsp:cNvPr id="0" name=""/>
        <dsp:cNvSpPr/>
      </dsp:nvSpPr>
      <dsp:spPr>
        <a:xfrm>
          <a:off x="8525478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525478" y="304816"/>
        <a:ext cx="2631253" cy="1263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5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10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11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4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61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579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90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339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824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057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5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3.svg"/><Relationship Id="rId7" Type="http://schemas.openxmlformats.org/officeDocument/2006/relationships/slide" Target="slide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AF62B-FA7D-EE15-68B2-1CBCB3B978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0000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7C1FE4-999B-EE6E-BA6A-EDEFB0D1B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pl-PL" sz="5100" dirty="0">
                <a:solidFill>
                  <a:srgbClr val="FFFFFF"/>
                </a:solidFill>
              </a:rPr>
              <a:t>Programowanie obiektowe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9AD7AA0-85EE-9E55-735A-8632B7293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1500">
                <a:solidFill>
                  <a:srgbClr val="FFFFFF"/>
                </a:solidFill>
              </a:rPr>
              <a:t>Referat seminaryjny</a:t>
            </a:r>
          </a:p>
          <a:p>
            <a:pPr>
              <a:lnSpc>
                <a:spcPct val="100000"/>
              </a:lnSpc>
            </a:pPr>
            <a:r>
              <a:rPr lang="pl-PL" sz="1500">
                <a:solidFill>
                  <a:srgbClr val="FFFFFF"/>
                </a:solidFill>
              </a:rPr>
              <a:t>Autor: Dawid Szuber</a:t>
            </a:r>
          </a:p>
          <a:p>
            <a:pPr>
              <a:lnSpc>
                <a:spcPct val="100000"/>
              </a:lnSpc>
            </a:pPr>
            <a:r>
              <a:rPr lang="pl-PL" sz="1500">
                <a:solidFill>
                  <a:srgbClr val="FFFFFF"/>
                </a:solidFill>
              </a:rPr>
              <a:t>Nr albumu 290297 ITE</a:t>
            </a:r>
          </a:p>
          <a:p>
            <a:pPr>
              <a:lnSpc>
                <a:spcPct val="100000"/>
              </a:lnSpc>
            </a:pPr>
            <a:r>
              <a:rPr lang="pl-PL" sz="1500">
                <a:solidFill>
                  <a:srgbClr val="FFFFFF"/>
                </a:solidFill>
              </a:rPr>
              <a:t>Prowadzący dr inż. Jan Kowalski</a:t>
            </a:r>
          </a:p>
          <a:p>
            <a:pPr>
              <a:lnSpc>
                <a:spcPct val="100000"/>
              </a:lnSpc>
            </a:pPr>
            <a:r>
              <a:rPr lang="pl-PL" sz="1500">
                <a:solidFill>
                  <a:srgbClr val="FFFFFF"/>
                </a:solidFill>
              </a:rPr>
              <a:t>Wrocław 2026</a:t>
            </a:r>
          </a:p>
          <a:p>
            <a:pPr>
              <a:lnSpc>
                <a:spcPct val="100000"/>
              </a:lnSpc>
            </a:pPr>
            <a:endParaRPr lang="pl-PL" sz="15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6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24B0853-9A81-8EDF-0AF9-11A22E16A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pl-PL" dirty="0"/>
              <a:t>Spis treści </a:t>
            </a:r>
          </a:p>
        </p:txBody>
      </p:sp>
      <p:pic>
        <p:nvPicPr>
          <p:cNvPr id="8" name="Graphic 7" descr="Klasa">
            <a:extLst>
              <a:ext uri="{FF2B5EF4-FFF2-40B4-BE49-F238E27FC236}">
                <a16:creationId xmlns:a16="http://schemas.microsoft.com/office/drawing/2014/main" id="{C30C92C4-31C3-5E48-1A8E-0A1BA87AD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947138"/>
            <a:ext cx="4959823" cy="495982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DCBD168B-6B37-4BB2-D6EC-A921762F7F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pl-PL" altLang="pl-PL" dirty="0">
                <a:latin typeface="Arial" panose="020B0604020202020204" pitchFamily="34" charset="0"/>
              </a:rPr>
              <a:t>1. 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4" action="ppaction://hlinksldjump"/>
              </a:rPr>
              <a:t>Wprowadzenie do OOP – definicja i różnice względem podejścia proceduralnego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2. 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5" action="ppaction://hlinksldjump"/>
              </a:rPr>
              <a:t>Klasa a Obiekt – fundamenty paradygmatu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3. 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6" action="ppaction://hlinksldjump"/>
              </a:rPr>
              <a:t>Cztery Filary Programowania Obiektowego.</a:t>
            </a:r>
            <a:endParaRPr kumimoji="0" lang="pl-PL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4. 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7" action="ppaction://hlinksldjump"/>
              </a:rPr>
              <a:t>Dziedziczenie vs Kompozycja – relacje między obiektami.</a:t>
            </a:r>
            <a:endParaRPr kumimoji="0" lang="pl-PL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5. 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8" action="ppaction://hlinksldjump"/>
              </a:rPr>
              <a:t>Zasady SOLID – jak pisać czysty kod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pl-PL" altLang="pl-PL" dirty="0">
                <a:latin typeface="Arial" panose="020B0604020202020204" pitchFamily="34" charset="0"/>
              </a:rPr>
              <a:t>6. 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9" action="ppaction://hlinksldjump"/>
              </a:rPr>
              <a:t>Ścieżka rozwoju – projekty i literatura.</a:t>
            </a:r>
            <a:endParaRPr kumimoji="0" lang="pl-PL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7. 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10" action="ppaction://hlinksldjump"/>
              </a:rPr>
              <a:t>Podsumowanie i Q&amp;A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8. 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11" action="ppaction://hlinksldjump"/>
              </a:rPr>
              <a:t>Bibliografia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81008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B85A31F-CCEB-FF3A-66A5-F94E96123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936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100"/>
              <a:t>Czym jest Programowanie Obiektowe (OOP)?</a:t>
            </a:r>
            <a:br>
              <a:rPr lang="pl-PL" sz="3100"/>
            </a:br>
            <a:endParaRPr lang="pl-PL" sz="310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4BA02E2-5A8D-6CB3-66B2-2BC0B5811C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578608"/>
            <a:ext cx="6309360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Definicja: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Paradygmat modelujący rzeczywistość za pomocą obiektów, łączący dane z funkcjami.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Proceduralne vs Obiektowe: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Proceduralne: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Lista zadań (np. "Weź mąkę", "Wymieszaj") – ryzyko błędu przy zmianie jednego kroku.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Obiektowe: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Zorganizowana kuchnia z obiektami ("Kucharz", "Piekarnik"), które mają własne odpowiedzialności.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Kluczowe korzyści: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Modułowość i łatwiejsze testowanie.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Wielokrotne użycie kodu (Reusability).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Lepsze odwzorowanie rzeczywistości.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853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2A420C9-A839-72F9-DFD5-4819C23BF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pl-PL" dirty="0"/>
              <a:t>Fundamenty: Klasa i Obiekt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Rectangle 2">
            <a:extLst>
              <a:ext uri="{FF2B5EF4-FFF2-40B4-BE49-F238E27FC236}">
                <a16:creationId xmlns:a16="http://schemas.microsoft.com/office/drawing/2014/main" id="{5BC8FFBC-70D8-42FB-F081-F7394D6B7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708319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7617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EB4F86C-D4D0-5249-C088-1E8FBE8D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pl-PL" dirty="0"/>
              <a:t>Cztery Filary OOP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E94372F-5D9D-FACD-C8AC-6184E076EC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757030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2362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F1E8C1D-C84A-17AA-4CEE-91ABEDA18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732520" cy="1463040"/>
          </a:xfrm>
        </p:spPr>
        <p:txBody>
          <a:bodyPr>
            <a:normAutofit/>
          </a:bodyPr>
          <a:lstStyle/>
          <a:p>
            <a:r>
              <a:rPr lang="pl-PL"/>
              <a:t>Zaawansowane Koncepcje: Dziedziczenie a Kompozycja</a:t>
            </a:r>
            <a:endParaRPr lang="pl-P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9A9989-BC2A-6371-FD60-E11FD5231C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578608"/>
            <a:ext cx="8732520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Dziedziczenie (Relacja "IS-A" / "JEST"):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Sztywne powiązanie (tight coupling).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Przykład: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Samochod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 jest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Pojazdem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.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Kompozycja (Relacja "HAS-A" / "MA"):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Elastyczne powiązanie, preferowane w nowoczesnym projektowaniu.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Przykład: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Samochod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 ma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Silnik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 (zamiast dziedziczyć, zawiera obiekt silnika w sobie)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Wniosek: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Kompozycja pozwala na dynamiczną wymianę elementów (np. silnika) w trakcie działania programu</a:t>
            </a:r>
          </a:p>
        </p:txBody>
      </p:sp>
    </p:spTree>
    <p:extLst>
      <p:ext uri="{BB962C8B-B14F-4D97-AF65-F5344CB8AC3E}">
        <p14:creationId xmlns:p14="http://schemas.microsoft.com/office/powerpoint/2010/main" val="3747565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DC81933E-93BD-38CE-3C98-D10B2844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E35EA-FB9C-AE5F-4AB8-1B3D59CC9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22976" y="611650"/>
            <a:ext cx="614476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4A3D3D9-0881-0D26-4B3B-2DEFE0E3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5376672"/>
          </a:xfrm>
        </p:spPr>
        <p:txBody>
          <a:bodyPr>
            <a:normAutofit/>
          </a:bodyPr>
          <a:lstStyle/>
          <a:p>
            <a:r>
              <a:rPr lang="pl-PL" dirty="0"/>
              <a:t>Zasady SOLID – Czysty Kod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620DF7-4B41-3F80-E220-7D1C3A0E83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22976" y="1042416"/>
            <a:ext cx="6144768" cy="53126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Zbiór 5 zasad pomagających tworzyć elastyczne oprogramowanie: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 (Single Responsibility):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Klasa powinna mieć tylko jedną odpowiedzialność (jeden powód do zmiany).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 (Open/Closed):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Kod otwarty na rozszerzenia, zamknięty na modyfikacje.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 (Liskov Substitution):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Klasa pochodna musi móc zastąpić klasę bazową bez psucia programu.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 (Interface Segregation):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Wiele małych interfejsów jest lepsze niż jeden ogólny ("kobyła").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 (Dependency Inversion):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Moduły wysokiego poziomu nie powinny zależeć od detali, lecz od abstrakcji.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20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31B1BCD-EBCA-6323-05CA-089358D6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pl-PL" dirty="0"/>
              <a:t>Nauka w Praktyce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8" name="Graphic 7" descr="Książki">
            <a:extLst>
              <a:ext uri="{FF2B5EF4-FFF2-40B4-BE49-F238E27FC236}">
                <a16:creationId xmlns:a16="http://schemas.microsoft.com/office/drawing/2014/main" id="{0E2C3E7C-BD89-3C70-12F8-1CBF6B330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23" name="Rectangle 1">
            <a:extLst>
              <a:ext uri="{FF2B5EF4-FFF2-40B4-BE49-F238E27FC236}">
                <a16:creationId xmlns:a16="http://schemas.microsoft.com/office/drawing/2014/main" id="{A9CDA09B-B429-AAD5-2857-5904D6352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Projekty do realizacji:</a:t>
            </a:r>
            <a:endParaRPr kumimoji="0" lang="pl-PL" altLang="pl-PL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15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System Biblioteczny:</a:t>
            </a:r>
            <a:r>
              <a:rPr kumimoji="0" lang="pl-PL" altLang="pl-PL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Nauka relacji i hermetyzacji (Książka, Czytelnik, Biblioteka).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pl-PL" altLang="pl-PL" sz="15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Gra RPG:</a:t>
            </a:r>
            <a:r>
              <a:rPr kumimoji="0" lang="pl-PL" altLang="pl-PL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Zastosowanie dziedziczenia i polimorfizmu (Klasy: Postać, Bohater, Przeciwnik).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pl-PL" altLang="pl-PL" sz="15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Symulator Bankomatu:</a:t>
            </a:r>
            <a:r>
              <a:rPr kumimoji="0" lang="pl-PL" altLang="pl-PL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Obsługa wyjątków i kompozycja.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endParaRPr kumimoji="0" lang="pl-PL" altLang="pl-PL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Polecana literatura:</a:t>
            </a:r>
            <a:endParaRPr kumimoji="0" lang="pl-PL" altLang="pl-PL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"Czysty kod" – Robert C. Martin (Fundamenty)</a:t>
            </a:r>
            <a:r>
              <a:rPr lang="pl-PL" altLang="pl-PL" sz="1500" dirty="0">
                <a:latin typeface="Arial" panose="020B0604020202020204" pitchFamily="34" charset="0"/>
                <a:hlinkClick r:id="rId4" action="ppaction://hlinksldjump"/>
              </a:rPr>
              <a:t>[1]</a:t>
            </a:r>
            <a:r>
              <a:rPr lang="pl-PL" altLang="pl-PL" sz="1500" dirty="0">
                <a:latin typeface="Arial" panose="020B0604020202020204" pitchFamily="34" charset="0"/>
              </a:rPr>
              <a:t>.</a:t>
            </a:r>
            <a:endParaRPr kumimoji="0" lang="pl-PL" altLang="pl-PL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pl-PL" altLang="pl-PL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"Wzorce Projektowe" – Banda Czterech (Dla zaawansowanych)</a:t>
            </a:r>
            <a:r>
              <a:rPr lang="pl-PL" altLang="pl-PL" sz="1500" dirty="0">
                <a:latin typeface="Arial" panose="020B0604020202020204" pitchFamily="34" charset="0"/>
                <a:hlinkClick r:id="rId4" action="ppaction://hlinksldjump"/>
              </a:rPr>
              <a:t> [2]</a:t>
            </a:r>
            <a:r>
              <a:rPr lang="pl-PL" altLang="pl-PL" sz="1500" dirty="0">
                <a:latin typeface="Arial" panose="020B0604020202020204" pitchFamily="34" charset="0"/>
              </a:rPr>
              <a:t>.</a:t>
            </a:r>
            <a:endParaRPr kumimoji="0" lang="pl-PL" altLang="pl-PL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pl-PL" altLang="pl-PL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"Rusz głową! Wzorce projektowe" – Freeman &amp; </a:t>
            </a:r>
            <a:r>
              <a:rPr kumimoji="0" lang="pl-PL" altLang="pl-PL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Robson</a:t>
            </a:r>
            <a:r>
              <a:rPr kumimoji="0" lang="pl-PL" altLang="pl-PL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(Przystępne wprowadzenie)</a:t>
            </a:r>
            <a:r>
              <a:rPr lang="pl-PL" altLang="pl-PL" sz="1500" dirty="0">
                <a:latin typeface="Arial" panose="020B0604020202020204" pitchFamily="34" charset="0"/>
              </a:rPr>
              <a:t> </a:t>
            </a:r>
            <a:r>
              <a:rPr lang="pl-PL" altLang="pl-PL" sz="1500" dirty="0">
                <a:latin typeface="Arial" panose="020B0604020202020204" pitchFamily="34" charset="0"/>
                <a:hlinkClick r:id="rId4" action="ppaction://hlinksldjump"/>
              </a:rPr>
              <a:t>[3]</a:t>
            </a:r>
            <a:r>
              <a:rPr lang="pl-PL" altLang="pl-PL" sz="1500" dirty="0">
                <a:latin typeface="Arial" panose="020B0604020202020204" pitchFamily="34" charset="0"/>
              </a:rPr>
              <a:t>.</a:t>
            </a:r>
            <a:endParaRPr kumimoji="0" lang="pl-PL" altLang="pl-PL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8396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88B6313-0A67-0ECF-6562-4F8AED858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pl-PL"/>
              <a:t>Podsumowanie</a:t>
            </a:r>
            <a:endParaRPr lang="pl-PL" dirty="0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8" name="Graphic 7" descr="Head with Gears">
            <a:extLst>
              <a:ext uri="{FF2B5EF4-FFF2-40B4-BE49-F238E27FC236}">
                <a16:creationId xmlns:a16="http://schemas.microsoft.com/office/drawing/2014/main" id="{49C6E266-9E34-CB06-4C95-A248C5ACB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26" name="Rectangle 1">
            <a:extLst>
              <a:ext uri="{FF2B5EF4-FFF2-40B4-BE49-F238E27FC236}">
                <a16:creationId xmlns:a16="http://schemas.microsoft.com/office/drawing/2014/main" id="{DE783F0F-F55F-B922-675B-CF31034D66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Programowanie obiektowe to nie tylko składnia, ale sposób myślenia o problemach.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Kluczem do sukcesu jest zrozumienie różnicy między </a:t>
            </a: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teorią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(filary OOP) a </a:t>
            </a: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praktyką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(SOLID, Wzorce Projektowe, Kompozycja).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Najlepszą metodą nauki jest pisanie kodu i analiza projektów Open Source.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pl-PL" altLang="pl-PL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pl-PL" altLang="pl-PL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pl-PL" b="1"/>
              <a:t>Dziękuję za uwagę.</a:t>
            </a:r>
            <a:r>
              <a:rPr lang="pl-PL"/>
              <a:t> Czy są jakieś pytania?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793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9185905-016E-C9BE-EC0E-C1093863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9360" cy="1463040"/>
          </a:xfrm>
        </p:spPr>
        <p:txBody>
          <a:bodyPr>
            <a:normAutofit/>
          </a:bodyPr>
          <a:lstStyle/>
          <a:p>
            <a:r>
              <a:rPr lang="pl-PL" dirty="0"/>
              <a:t>Bibliografia</a:t>
            </a:r>
            <a:br>
              <a:rPr lang="pl-PL" dirty="0"/>
            </a:br>
            <a:endParaRPr lang="pl-P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7BA90F-AAB5-AB0C-29EE-0B7B4A1687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578608"/>
            <a:ext cx="6309360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Gamma E.,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Helm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R., Johnson R.,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Vlissides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J., Wzorce Projektowe. Elementy oprogramowania obiektowego wielokrotnego użytku, Wydawnictwo Helion.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Martin R. C., Czysty kod. Podręcznik dobrego programisty, Wydawnictwo Helion.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Freeman E.,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Robson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E., Rusz głową! Wzorce projektowe, Wydawnictwo Helion.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pl-PL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411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742</Words>
  <Application>Microsoft Office PowerPoint</Application>
  <PresentationFormat>Panoramiczny</PresentationFormat>
  <Paragraphs>78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Arial Unicode MS</vt:lpstr>
      <vt:lpstr>Bierstadt</vt:lpstr>
      <vt:lpstr>GestaltVTI</vt:lpstr>
      <vt:lpstr>Programowanie obiektowe</vt:lpstr>
      <vt:lpstr>Spis treści </vt:lpstr>
      <vt:lpstr>Czym jest Programowanie Obiektowe (OOP)? </vt:lpstr>
      <vt:lpstr>Fundamenty: Klasa i Obiekt</vt:lpstr>
      <vt:lpstr>Cztery Filary OOP</vt:lpstr>
      <vt:lpstr>Zaawansowane Koncepcje: Dziedziczenie a Kompozycja</vt:lpstr>
      <vt:lpstr>Zasady SOLID – Czysty Kod</vt:lpstr>
      <vt:lpstr>Nauka w Praktyce</vt:lpstr>
      <vt:lpstr>Podsumowanie</vt:lpstr>
      <vt:lpstr>Bibliografia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Dawid Szuber (290297)</dc:creator>
  <cp:lastModifiedBy>Dawid Szuber (290297)</cp:lastModifiedBy>
  <cp:revision>2</cp:revision>
  <dcterms:created xsi:type="dcterms:W3CDTF">2026-01-19T19:33:00Z</dcterms:created>
  <dcterms:modified xsi:type="dcterms:W3CDTF">2026-01-19T20:06:52Z</dcterms:modified>
</cp:coreProperties>
</file>