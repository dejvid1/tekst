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12192000" cy="6858000"/>
  <p:notesSz cx="6797675" cy="9926638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1D09"/>
    <a:srgbClr val="A7190E"/>
    <a:srgbClr val="FF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8" autoAdjust="0"/>
    <p:restoredTop sz="94675" autoAdjust="0"/>
  </p:normalViewPr>
  <p:slideViewPr>
    <p:cSldViewPr snapToObjects="1">
      <p:cViewPr>
        <p:scale>
          <a:sx n="81" d="100"/>
          <a:sy n="81" d="100"/>
        </p:scale>
        <p:origin x="85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C86938-EEFD-4139-A78A-AC83EF0B13EA}" type="doc">
      <dgm:prSet loTypeId="urn:microsoft.com/office/officeart/2005/8/layout/vProcess5" loCatId="process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0E07906-250C-4EC1-A65C-E26690438E92}">
      <dgm:prSet/>
      <dgm:spPr/>
      <dgm:t>
        <a:bodyPr/>
        <a:lstStyle/>
        <a:p>
          <a:r>
            <a:rPr lang="pl-PL" b="1" i="0" baseline="0"/>
            <a:t>Hermetyzacja (Enkapsulacja):</a:t>
          </a:r>
          <a:r>
            <a:rPr lang="pl-PL" b="0" i="0" baseline="0"/>
            <a:t> Ukrywanie wewnętrznego stanu obiektu. Dostęp do danych tylko przez metody publiczne (gettery/settery), co chroni przed błędami.</a:t>
          </a:r>
          <a:endParaRPr lang="en-US"/>
        </a:p>
      </dgm:t>
    </dgm:pt>
    <dgm:pt modelId="{93CC8C31-CE1F-4397-9054-EB0CAE3A278C}" type="parTrans" cxnId="{5C868D52-68E1-4CC9-8C4B-ED535ACBE332}">
      <dgm:prSet/>
      <dgm:spPr/>
      <dgm:t>
        <a:bodyPr/>
        <a:lstStyle/>
        <a:p>
          <a:endParaRPr lang="en-US"/>
        </a:p>
      </dgm:t>
    </dgm:pt>
    <dgm:pt modelId="{9D6FC880-B986-4530-B108-B1FCE9E32BFB}" type="sibTrans" cxnId="{5C868D52-68E1-4CC9-8C4B-ED535ACBE332}">
      <dgm:prSet/>
      <dgm:spPr/>
      <dgm:t>
        <a:bodyPr/>
        <a:lstStyle/>
        <a:p>
          <a:endParaRPr lang="en-US"/>
        </a:p>
      </dgm:t>
    </dgm:pt>
    <dgm:pt modelId="{39882616-61B0-4592-8821-E501459B9674}">
      <dgm:prSet/>
      <dgm:spPr/>
      <dgm:t>
        <a:bodyPr/>
        <a:lstStyle/>
        <a:p>
          <a:r>
            <a:rPr lang="pl-PL" b="1" i="0" baseline="0"/>
            <a:t>Dziedziczenie (Inheritance):</a:t>
          </a:r>
          <a:r>
            <a:rPr lang="pl-PL" b="0" i="0" baseline="0"/>
            <a:t> Tworzenie klas pochodnych na bazie istniejących (np. Samochód dziedziczy po Pojeździe). Pozwala na rozszerzanie funkcjonalności bez przepisywania kodu.</a:t>
          </a:r>
          <a:endParaRPr lang="en-US"/>
        </a:p>
      </dgm:t>
    </dgm:pt>
    <dgm:pt modelId="{81183BB3-3D4F-41F0-9782-8AD2E4E20D1C}" type="parTrans" cxnId="{CFEE904B-D277-4954-AF33-2E41E177BCB6}">
      <dgm:prSet/>
      <dgm:spPr/>
      <dgm:t>
        <a:bodyPr/>
        <a:lstStyle/>
        <a:p>
          <a:endParaRPr lang="en-US"/>
        </a:p>
      </dgm:t>
    </dgm:pt>
    <dgm:pt modelId="{BEFE2E79-0F32-4B70-9D78-F5057B4CA567}" type="sibTrans" cxnId="{CFEE904B-D277-4954-AF33-2E41E177BCB6}">
      <dgm:prSet/>
      <dgm:spPr/>
      <dgm:t>
        <a:bodyPr/>
        <a:lstStyle/>
        <a:p>
          <a:endParaRPr lang="en-US"/>
        </a:p>
      </dgm:t>
    </dgm:pt>
    <dgm:pt modelId="{7CB65A43-E32B-4E5F-948F-0A2DD0487013}">
      <dgm:prSet/>
      <dgm:spPr/>
      <dgm:t>
        <a:bodyPr/>
        <a:lstStyle/>
        <a:p>
          <a:r>
            <a:rPr lang="pl-PL" b="1" i="0" baseline="0"/>
            <a:t>Polimorfizm:</a:t>
          </a:r>
          <a:r>
            <a:rPr lang="pl-PL" b="0" i="0" baseline="0"/>
            <a:t> Zdolność obiektów różnych klas do reagowania na to samo wywołanie metody w specyficzny dla siebie sposób (np. metoda jedź działa inaczej dla auta i motocykla).</a:t>
          </a:r>
          <a:endParaRPr lang="en-US"/>
        </a:p>
      </dgm:t>
    </dgm:pt>
    <dgm:pt modelId="{21440E8C-8F36-42EA-B0A8-4A4C167AA147}" type="parTrans" cxnId="{8AB37010-1743-4101-97C7-D3DDBA6B186C}">
      <dgm:prSet/>
      <dgm:spPr/>
      <dgm:t>
        <a:bodyPr/>
        <a:lstStyle/>
        <a:p>
          <a:endParaRPr lang="en-US"/>
        </a:p>
      </dgm:t>
    </dgm:pt>
    <dgm:pt modelId="{59DC3710-1E5C-48EB-BF0C-431B1C4475A4}" type="sibTrans" cxnId="{8AB37010-1743-4101-97C7-D3DDBA6B186C}">
      <dgm:prSet/>
      <dgm:spPr/>
      <dgm:t>
        <a:bodyPr/>
        <a:lstStyle/>
        <a:p>
          <a:endParaRPr lang="en-US"/>
        </a:p>
      </dgm:t>
    </dgm:pt>
    <dgm:pt modelId="{5AC7202E-8CC9-4738-B6D8-E42B20731152}">
      <dgm:prSet/>
      <dgm:spPr/>
      <dgm:t>
        <a:bodyPr/>
        <a:lstStyle/>
        <a:p>
          <a:r>
            <a:rPr lang="pl-PL" b="1" i="0" baseline="0"/>
            <a:t>Abstrakcja:</a:t>
          </a:r>
          <a:r>
            <a:rPr lang="pl-PL" b="0" i="0" baseline="0"/>
            <a:t> Ukrywanie skomplikowanych detali implementacyjnych, udostępnianie prostego interfejsu (np. pedał gazu zamiast mechanizmu wtrysku).</a:t>
          </a:r>
          <a:endParaRPr lang="en-US"/>
        </a:p>
      </dgm:t>
    </dgm:pt>
    <dgm:pt modelId="{371B62A7-3CFF-43D9-A812-65A7304F009F}" type="parTrans" cxnId="{32A3332B-DEE4-43D1-9ACC-093A73BA620E}">
      <dgm:prSet/>
      <dgm:spPr/>
      <dgm:t>
        <a:bodyPr/>
        <a:lstStyle/>
        <a:p>
          <a:endParaRPr lang="en-US"/>
        </a:p>
      </dgm:t>
    </dgm:pt>
    <dgm:pt modelId="{54F1D9BE-5DA1-42DB-9F11-9A14BE6079C7}" type="sibTrans" cxnId="{32A3332B-DEE4-43D1-9ACC-093A73BA620E}">
      <dgm:prSet/>
      <dgm:spPr/>
      <dgm:t>
        <a:bodyPr/>
        <a:lstStyle/>
        <a:p>
          <a:endParaRPr lang="en-US"/>
        </a:p>
      </dgm:t>
    </dgm:pt>
    <dgm:pt modelId="{43ADBEFC-8592-42CF-A9C5-306286BE7EA7}" type="pres">
      <dgm:prSet presAssocID="{AFC86938-EEFD-4139-A78A-AC83EF0B13EA}" presName="outerComposite" presStyleCnt="0">
        <dgm:presLayoutVars>
          <dgm:chMax val="5"/>
          <dgm:dir/>
          <dgm:resizeHandles val="exact"/>
        </dgm:presLayoutVars>
      </dgm:prSet>
      <dgm:spPr/>
    </dgm:pt>
    <dgm:pt modelId="{8B0E3F3A-F5A2-42AF-B1EC-4D4B2E40CD55}" type="pres">
      <dgm:prSet presAssocID="{AFC86938-EEFD-4139-A78A-AC83EF0B13EA}" presName="dummyMaxCanvas" presStyleCnt="0">
        <dgm:presLayoutVars/>
      </dgm:prSet>
      <dgm:spPr/>
    </dgm:pt>
    <dgm:pt modelId="{06847EC6-3A95-4CDD-A41F-8EE3AE4BBE45}" type="pres">
      <dgm:prSet presAssocID="{AFC86938-EEFD-4139-A78A-AC83EF0B13EA}" presName="FourNodes_1" presStyleLbl="node1" presStyleIdx="0" presStyleCnt="4">
        <dgm:presLayoutVars>
          <dgm:bulletEnabled val="1"/>
        </dgm:presLayoutVars>
      </dgm:prSet>
      <dgm:spPr/>
    </dgm:pt>
    <dgm:pt modelId="{D3D549AE-4CFC-4B51-A38C-3BA0F1839399}" type="pres">
      <dgm:prSet presAssocID="{AFC86938-EEFD-4139-A78A-AC83EF0B13EA}" presName="FourNodes_2" presStyleLbl="node1" presStyleIdx="1" presStyleCnt="4">
        <dgm:presLayoutVars>
          <dgm:bulletEnabled val="1"/>
        </dgm:presLayoutVars>
      </dgm:prSet>
      <dgm:spPr/>
    </dgm:pt>
    <dgm:pt modelId="{E4D34DEB-BD36-4936-9558-1F5FAC70F3F0}" type="pres">
      <dgm:prSet presAssocID="{AFC86938-EEFD-4139-A78A-AC83EF0B13EA}" presName="FourNodes_3" presStyleLbl="node1" presStyleIdx="2" presStyleCnt="4">
        <dgm:presLayoutVars>
          <dgm:bulletEnabled val="1"/>
        </dgm:presLayoutVars>
      </dgm:prSet>
      <dgm:spPr/>
    </dgm:pt>
    <dgm:pt modelId="{B62B5FCA-A361-41BC-BFD8-B71E8FF182FF}" type="pres">
      <dgm:prSet presAssocID="{AFC86938-EEFD-4139-A78A-AC83EF0B13EA}" presName="FourNodes_4" presStyleLbl="node1" presStyleIdx="3" presStyleCnt="4">
        <dgm:presLayoutVars>
          <dgm:bulletEnabled val="1"/>
        </dgm:presLayoutVars>
      </dgm:prSet>
      <dgm:spPr/>
    </dgm:pt>
    <dgm:pt modelId="{03BE7EE9-579D-4D0B-B5E2-8843E85135E4}" type="pres">
      <dgm:prSet presAssocID="{AFC86938-EEFD-4139-A78A-AC83EF0B13EA}" presName="FourConn_1-2" presStyleLbl="fgAccFollowNode1" presStyleIdx="0" presStyleCnt="3">
        <dgm:presLayoutVars>
          <dgm:bulletEnabled val="1"/>
        </dgm:presLayoutVars>
      </dgm:prSet>
      <dgm:spPr/>
    </dgm:pt>
    <dgm:pt modelId="{D8BA0350-F683-4D4D-9804-4CA456E215BD}" type="pres">
      <dgm:prSet presAssocID="{AFC86938-EEFD-4139-A78A-AC83EF0B13EA}" presName="FourConn_2-3" presStyleLbl="fgAccFollowNode1" presStyleIdx="1" presStyleCnt="3">
        <dgm:presLayoutVars>
          <dgm:bulletEnabled val="1"/>
        </dgm:presLayoutVars>
      </dgm:prSet>
      <dgm:spPr/>
    </dgm:pt>
    <dgm:pt modelId="{F868CBBE-8497-49EC-AF10-5A56177DCB6E}" type="pres">
      <dgm:prSet presAssocID="{AFC86938-EEFD-4139-A78A-AC83EF0B13EA}" presName="FourConn_3-4" presStyleLbl="fgAccFollowNode1" presStyleIdx="2" presStyleCnt="3">
        <dgm:presLayoutVars>
          <dgm:bulletEnabled val="1"/>
        </dgm:presLayoutVars>
      </dgm:prSet>
      <dgm:spPr/>
    </dgm:pt>
    <dgm:pt modelId="{F61FB33C-AF60-4775-9E0E-A249ABCBF555}" type="pres">
      <dgm:prSet presAssocID="{AFC86938-EEFD-4139-A78A-AC83EF0B13EA}" presName="FourNodes_1_text" presStyleLbl="node1" presStyleIdx="3" presStyleCnt="4">
        <dgm:presLayoutVars>
          <dgm:bulletEnabled val="1"/>
        </dgm:presLayoutVars>
      </dgm:prSet>
      <dgm:spPr/>
    </dgm:pt>
    <dgm:pt modelId="{3DED9475-B5B0-4903-8186-28B5491C69D8}" type="pres">
      <dgm:prSet presAssocID="{AFC86938-EEFD-4139-A78A-AC83EF0B13EA}" presName="FourNodes_2_text" presStyleLbl="node1" presStyleIdx="3" presStyleCnt="4">
        <dgm:presLayoutVars>
          <dgm:bulletEnabled val="1"/>
        </dgm:presLayoutVars>
      </dgm:prSet>
      <dgm:spPr/>
    </dgm:pt>
    <dgm:pt modelId="{1B95726A-44FF-46FA-BF0E-2920ADDAF4B7}" type="pres">
      <dgm:prSet presAssocID="{AFC86938-EEFD-4139-A78A-AC83EF0B13EA}" presName="FourNodes_3_text" presStyleLbl="node1" presStyleIdx="3" presStyleCnt="4">
        <dgm:presLayoutVars>
          <dgm:bulletEnabled val="1"/>
        </dgm:presLayoutVars>
      </dgm:prSet>
      <dgm:spPr/>
    </dgm:pt>
    <dgm:pt modelId="{6BE60778-D08C-4FF5-8A6D-8AD7E682EAB3}" type="pres">
      <dgm:prSet presAssocID="{AFC86938-EEFD-4139-A78A-AC83EF0B13E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AB37010-1743-4101-97C7-D3DDBA6B186C}" srcId="{AFC86938-EEFD-4139-A78A-AC83EF0B13EA}" destId="{7CB65A43-E32B-4E5F-948F-0A2DD0487013}" srcOrd="2" destOrd="0" parTransId="{21440E8C-8F36-42EA-B0A8-4A4C167AA147}" sibTransId="{59DC3710-1E5C-48EB-BF0C-431B1C4475A4}"/>
    <dgm:cxn modelId="{8D44E51A-F704-4B1B-8AFC-A15FEFF5FBDE}" type="presOf" srcId="{AFC86938-EEFD-4139-A78A-AC83EF0B13EA}" destId="{43ADBEFC-8592-42CF-A9C5-306286BE7EA7}" srcOrd="0" destOrd="0" presId="urn:microsoft.com/office/officeart/2005/8/layout/vProcess5"/>
    <dgm:cxn modelId="{E058D022-2870-429B-86D0-634AAFCDDA18}" type="presOf" srcId="{A0E07906-250C-4EC1-A65C-E26690438E92}" destId="{F61FB33C-AF60-4775-9E0E-A249ABCBF555}" srcOrd="1" destOrd="0" presId="urn:microsoft.com/office/officeart/2005/8/layout/vProcess5"/>
    <dgm:cxn modelId="{7CE58829-DB8A-45E2-8E57-6AD681960DEA}" type="presOf" srcId="{39882616-61B0-4592-8821-E501459B9674}" destId="{3DED9475-B5B0-4903-8186-28B5491C69D8}" srcOrd="1" destOrd="0" presId="urn:microsoft.com/office/officeart/2005/8/layout/vProcess5"/>
    <dgm:cxn modelId="{32A3332B-DEE4-43D1-9ACC-093A73BA620E}" srcId="{AFC86938-EEFD-4139-A78A-AC83EF0B13EA}" destId="{5AC7202E-8CC9-4738-B6D8-E42B20731152}" srcOrd="3" destOrd="0" parTransId="{371B62A7-3CFF-43D9-A812-65A7304F009F}" sibTransId="{54F1D9BE-5DA1-42DB-9F11-9A14BE6079C7}"/>
    <dgm:cxn modelId="{222B3A34-232E-403A-AF2B-BA6021B24BE0}" type="presOf" srcId="{5AC7202E-8CC9-4738-B6D8-E42B20731152}" destId="{B62B5FCA-A361-41BC-BFD8-B71E8FF182FF}" srcOrd="0" destOrd="0" presId="urn:microsoft.com/office/officeart/2005/8/layout/vProcess5"/>
    <dgm:cxn modelId="{A2F0ED39-C915-4B49-BC3A-A03C7536A031}" type="presOf" srcId="{39882616-61B0-4592-8821-E501459B9674}" destId="{D3D549AE-4CFC-4B51-A38C-3BA0F1839399}" srcOrd="0" destOrd="0" presId="urn:microsoft.com/office/officeart/2005/8/layout/vProcess5"/>
    <dgm:cxn modelId="{CFEE904B-D277-4954-AF33-2E41E177BCB6}" srcId="{AFC86938-EEFD-4139-A78A-AC83EF0B13EA}" destId="{39882616-61B0-4592-8821-E501459B9674}" srcOrd="1" destOrd="0" parTransId="{81183BB3-3D4F-41F0-9782-8AD2E4E20D1C}" sibTransId="{BEFE2E79-0F32-4B70-9D78-F5057B4CA567}"/>
    <dgm:cxn modelId="{18CA9C6B-3BB5-438F-B5F0-6909C45CC976}" type="presOf" srcId="{9D6FC880-B986-4530-B108-B1FCE9E32BFB}" destId="{03BE7EE9-579D-4D0B-B5E2-8843E85135E4}" srcOrd="0" destOrd="0" presId="urn:microsoft.com/office/officeart/2005/8/layout/vProcess5"/>
    <dgm:cxn modelId="{5C868D52-68E1-4CC9-8C4B-ED535ACBE332}" srcId="{AFC86938-EEFD-4139-A78A-AC83EF0B13EA}" destId="{A0E07906-250C-4EC1-A65C-E26690438E92}" srcOrd="0" destOrd="0" parTransId="{93CC8C31-CE1F-4397-9054-EB0CAE3A278C}" sibTransId="{9D6FC880-B986-4530-B108-B1FCE9E32BFB}"/>
    <dgm:cxn modelId="{645F3D77-BDD0-4D80-AE8D-E3746ED90162}" type="presOf" srcId="{7CB65A43-E32B-4E5F-948F-0A2DD0487013}" destId="{1B95726A-44FF-46FA-BF0E-2920ADDAF4B7}" srcOrd="1" destOrd="0" presId="urn:microsoft.com/office/officeart/2005/8/layout/vProcess5"/>
    <dgm:cxn modelId="{5EDDBA7A-16A6-4B86-B41A-A9CCDDF8FB50}" type="presOf" srcId="{7CB65A43-E32B-4E5F-948F-0A2DD0487013}" destId="{E4D34DEB-BD36-4936-9558-1F5FAC70F3F0}" srcOrd="0" destOrd="0" presId="urn:microsoft.com/office/officeart/2005/8/layout/vProcess5"/>
    <dgm:cxn modelId="{6AE221AA-33DB-43A9-AE2B-48FC66F52112}" type="presOf" srcId="{5AC7202E-8CC9-4738-B6D8-E42B20731152}" destId="{6BE60778-D08C-4FF5-8A6D-8AD7E682EAB3}" srcOrd="1" destOrd="0" presId="urn:microsoft.com/office/officeart/2005/8/layout/vProcess5"/>
    <dgm:cxn modelId="{3456ACB9-6B24-4506-8263-B6F89059BD40}" type="presOf" srcId="{A0E07906-250C-4EC1-A65C-E26690438E92}" destId="{06847EC6-3A95-4CDD-A41F-8EE3AE4BBE45}" srcOrd="0" destOrd="0" presId="urn:microsoft.com/office/officeart/2005/8/layout/vProcess5"/>
    <dgm:cxn modelId="{8CD4F8BD-E5F2-4937-A9B9-F9E6CF481A35}" type="presOf" srcId="{59DC3710-1E5C-48EB-BF0C-431B1C4475A4}" destId="{F868CBBE-8497-49EC-AF10-5A56177DCB6E}" srcOrd="0" destOrd="0" presId="urn:microsoft.com/office/officeart/2005/8/layout/vProcess5"/>
    <dgm:cxn modelId="{E7D03FC6-EC2B-4A67-990A-9929A64F3D9C}" type="presOf" srcId="{BEFE2E79-0F32-4B70-9D78-F5057B4CA567}" destId="{D8BA0350-F683-4D4D-9804-4CA456E215BD}" srcOrd="0" destOrd="0" presId="urn:microsoft.com/office/officeart/2005/8/layout/vProcess5"/>
    <dgm:cxn modelId="{9D2B0509-20C6-4229-A4FF-7A094BCD3A23}" type="presParOf" srcId="{43ADBEFC-8592-42CF-A9C5-306286BE7EA7}" destId="{8B0E3F3A-F5A2-42AF-B1EC-4D4B2E40CD55}" srcOrd="0" destOrd="0" presId="urn:microsoft.com/office/officeart/2005/8/layout/vProcess5"/>
    <dgm:cxn modelId="{F43FD148-6B94-4EA7-9F57-40E4567E0E19}" type="presParOf" srcId="{43ADBEFC-8592-42CF-A9C5-306286BE7EA7}" destId="{06847EC6-3A95-4CDD-A41F-8EE3AE4BBE45}" srcOrd="1" destOrd="0" presId="urn:microsoft.com/office/officeart/2005/8/layout/vProcess5"/>
    <dgm:cxn modelId="{E6469B8B-311B-497B-8E20-70FDF5DC2199}" type="presParOf" srcId="{43ADBEFC-8592-42CF-A9C5-306286BE7EA7}" destId="{D3D549AE-4CFC-4B51-A38C-3BA0F1839399}" srcOrd="2" destOrd="0" presId="urn:microsoft.com/office/officeart/2005/8/layout/vProcess5"/>
    <dgm:cxn modelId="{B422AB9B-2202-4DD2-9358-59FD812D83D9}" type="presParOf" srcId="{43ADBEFC-8592-42CF-A9C5-306286BE7EA7}" destId="{E4D34DEB-BD36-4936-9558-1F5FAC70F3F0}" srcOrd="3" destOrd="0" presId="urn:microsoft.com/office/officeart/2005/8/layout/vProcess5"/>
    <dgm:cxn modelId="{0CC3BB43-27FD-4F2A-AF6F-0937BD331008}" type="presParOf" srcId="{43ADBEFC-8592-42CF-A9C5-306286BE7EA7}" destId="{B62B5FCA-A361-41BC-BFD8-B71E8FF182FF}" srcOrd="4" destOrd="0" presId="urn:microsoft.com/office/officeart/2005/8/layout/vProcess5"/>
    <dgm:cxn modelId="{B29C4FEC-6BAD-4613-AEBD-56F070BB0B69}" type="presParOf" srcId="{43ADBEFC-8592-42CF-A9C5-306286BE7EA7}" destId="{03BE7EE9-579D-4D0B-B5E2-8843E85135E4}" srcOrd="5" destOrd="0" presId="urn:microsoft.com/office/officeart/2005/8/layout/vProcess5"/>
    <dgm:cxn modelId="{0B6E8EA1-2BA8-4909-B8F4-48B8653E4BC0}" type="presParOf" srcId="{43ADBEFC-8592-42CF-A9C5-306286BE7EA7}" destId="{D8BA0350-F683-4D4D-9804-4CA456E215BD}" srcOrd="6" destOrd="0" presId="urn:microsoft.com/office/officeart/2005/8/layout/vProcess5"/>
    <dgm:cxn modelId="{5A17A00E-429A-4DE4-AAE1-38FDE07250E3}" type="presParOf" srcId="{43ADBEFC-8592-42CF-A9C5-306286BE7EA7}" destId="{F868CBBE-8497-49EC-AF10-5A56177DCB6E}" srcOrd="7" destOrd="0" presId="urn:microsoft.com/office/officeart/2005/8/layout/vProcess5"/>
    <dgm:cxn modelId="{7C5E004B-3621-4170-82E1-CC394D24DF22}" type="presParOf" srcId="{43ADBEFC-8592-42CF-A9C5-306286BE7EA7}" destId="{F61FB33C-AF60-4775-9E0E-A249ABCBF555}" srcOrd="8" destOrd="0" presId="urn:microsoft.com/office/officeart/2005/8/layout/vProcess5"/>
    <dgm:cxn modelId="{644B36F3-6545-473A-B442-E1928F686BE9}" type="presParOf" srcId="{43ADBEFC-8592-42CF-A9C5-306286BE7EA7}" destId="{3DED9475-B5B0-4903-8186-28B5491C69D8}" srcOrd="9" destOrd="0" presId="urn:microsoft.com/office/officeart/2005/8/layout/vProcess5"/>
    <dgm:cxn modelId="{4FF1AF86-8004-4C95-860F-5A8EFAD35236}" type="presParOf" srcId="{43ADBEFC-8592-42CF-A9C5-306286BE7EA7}" destId="{1B95726A-44FF-46FA-BF0E-2920ADDAF4B7}" srcOrd="10" destOrd="0" presId="urn:microsoft.com/office/officeart/2005/8/layout/vProcess5"/>
    <dgm:cxn modelId="{01616B05-DF20-4CA9-AA95-D6ED19DC6546}" type="presParOf" srcId="{43ADBEFC-8592-42CF-A9C5-306286BE7EA7}" destId="{6BE60778-D08C-4FF5-8A6D-8AD7E682EA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B69849-A9F9-4F1B-9C5E-C83610C20812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ADB764A-C54D-4B6D-A328-0D94A7B1D568}">
      <dgm:prSet/>
      <dgm:spPr/>
      <dgm:t>
        <a:bodyPr/>
        <a:lstStyle/>
        <a:p>
          <a:r>
            <a:rPr lang="pl-PL" b="1" i="0" baseline="0"/>
            <a:t>S (Single Responsibility):</a:t>
          </a:r>
          <a:r>
            <a:rPr lang="pl-PL" b="0" i="0" baseline="0"/>
            <a:t> Klasa powinna mieć tylko jedną odpowiedzialność (jeden powód do zmiany).</a:t>
          </a:r>
          <a:endParaRPr lang="en-US"/>
        </a:p>
      </dgm:t>
    </dgm:pt>
    <dgm:pt modelId="{3BACC577-A70D-412B-9C6D-2DE2E4DA2CF4}" type="parTrans" cxnId="{3722336B-B1E9-4D18-AB4F-75AE44E79F92}">
      <dgm:prSet/>
      <dgm:spPr/>
      <dgm:t>
        <a:bodyPr/>
        <a:lstStyle/>
        <a:p>
          <a:endParaRPr lang="en-US"/>
        </a:p>
      </dgm:t>
    </dgm:pt>
    <dgm:pt modelId="{3C3D84F4-1817-4981-82E7-A3C8CB1DC4CB}" type="sibTrans" cxnId="{3722336B-B1E9-4D18-AB4F-75AE44E79F92}">
      <dgm:prSet/>
      <dgm:spPr/>
      <dgm:t>
        <a:bodyPr/>
        <a:lstStyle/>
        <a:p>
          <a:endParaRPr lang="en-US"/>
        </a:p>
      </dgm:t>
    </dgm:pt>
    <dgm:pt modelId="{679A5A6E-C6DB-4AE0-BFD3-870EC797B414}">
      <dgm:prSet/>
      <dgm:spPr/>
      <dgm:t>
        <a:bodyPr/>
        <a:lstStyle/>
        <a:p>
          <a:r>
            <a:rPr lang="pl-PL" b="1" i="0" baseline="0"/>
            <a:t>O (Open/Closed):</a:t>
          </a:r>
          <a:r>
            <a:rPr lang="pl-PL" b="0" i="0" baseline="0"/>
            <a:t> Kod otwarty na rozszerzenia, zamknięty na modyfikacje.</a:t>
          </a:r>
          <a:endParaRPr lang="en-US"/>
        </a:p>
      </dgm:t>
    </dgm:pt>
    <dgm:pt modelId="{6C0C0B91-605A-42D1-BCAC-806ED7808483}" type="parTrans" cxnId="{9616A582-3A0D-4004-917A-4EC76FBFCBA1}">
      <dgm:prSet/>
      <dgm:spPr/>
      <dgm:t>
        <a:bodyPr/>
        <a:lstStyle/>
        <a:p>
          <a:endParaRPr lang="en-US"/>
        </a:p>
      </dgm:t>
    </dgm:pt>
    <dgm:pt modelId="{87E10DF5-10F5-4AE4-AFCF-A862CD3C7AD7}" type="sibTrans" cxnId="{9616A582-3A0D-4004-917A-4EC76FBFCBA1}">
      <dgm:prSet/>
      <dgm:spPr/>
      <dgm:t>
        <a:bodyPr/>
        <a:lstStyle/>
        <a:p>
          <a:endParaRPr lang="en-US"/>
        </a:p>
      </dgm:t>
    </dgm:pt>
    <dgm:pt modelId="{E6DAD13D-7DA4-46E2-B170-ED2010E62845}">
      <dgm:prSet/>
      <dgm:spPr/>
      <dgm:t>
        <a:bodyPr/>
        <a:lstStyle/>
        <a:p>
          <a:r>
            <a:rPr lang="pl-PL" b="1" i="0" baseline="0"/>
            <a:t>L (Liskov Substitution):</a:t>
          </a:r>
          <a:r>
            <a:rPr lang="pl-PL" b="0" i="0" baseline="0"/>
            <a:t> Klasa pochodna musi móc zastąpić klasę bazową bez psucia programu.</a:t>
          </a:r>
          <a:endParaRPr lang="en-US"/>
        </a:p>
      </dgm:t>
    </dgm:pt>
    <dgm:pt modelId="{90B1688B-ECF6-4CBE-A37A-FBF635EF1FA9}" type="parTrans" cxnId="{2F714644-9E42-405B-B8C7-DB10445E5ABA}">
      <dgm:prSet/>
      <dgm:spPr/>
      <dgm:t>
        <a:bodyPr/>
        <a:lstStyle/>
        <a:p>
          <a:endParaRPr lang="en-US"/>
        </a:p>
      </dgm:t>
    </dgm:pt>
    <dgm:pt modelId="{876D237F-8ECE-43DA-A60B-DDB17BEA0765}" type="sibTrans" cxnId="{2F714644-9E42-405B-B8C7-DB10445E5ABA}">
      <dgm:prSet/>
      <dgm:spPr/>
      <dgm:t>
        <a:bodyPr/>
        <a:lstStyle/>
        <a:p>
          <a:endParaRPr lang="en-US"/>
        </a:p>
      </dgm:t>
    </dgm:pt>
    <dgm:pt modelId="{1B052678-B0FB-46ED-A979-875BC52D2933}">
      <dgm:prSet/>
      <dgm:spPr/>
      <dgm:t>
        <a:bodyPr/>
        <a:lstStyle/>
        <a:p>
          <a:r>
            <a:rPr lang="pl-PL" b="1" i="0" baseline="0"/>
            <a:t>I (Interface Segregation):</a:t>
          </a:r>
          <a:r>
            <a:rPr lang="pl-PL" b="0" i="0" baseline="0"/>
            <a:t> Wiele małych interfejsów jest lepsze niż jeden ogólny ("kobyła").</a:t>
          </a:r>
          <a:endParaRPr lang="en-US"/>
        </a:p>
      </dgm:t>
    </dgm:pt>
    <dgm:pt modelId="{70252430-B5E8-4920-999E-939775516B34}" type="parTrans" cxnId="{B9EA6276-B854-4694-8241-F5BEF1D1663E}">
      <dgm:prSet/>
      <dgm:spPr/>
      <dgm:t>
        <a:bodyPr/>
        <a:lstStyle/>
        <a:p>
          <a:endParaRPr lang="en-US"/>
        </a:p>
      </dgm:t>
    </dgm:pt>
    <dgm:pt modelId="{DC5BB5D8-1CCF-4DED-83B6-20FF05626277}" type="sibTrans" cxnId="{B9EA6276-B854-4694-8241-F5BEF1D1663E}">
      <dgm:prSet/>
      <dgm:spPr/>
      <dgm:t>
        <a:bodyPr/>
        <a:lstStyle/>
        <a:p>
          <a:endParaRPr lang="en-US"/>
        </a:p>
      </dgm:t>
    </dgm:pt>
    <dgm:pt modelId="{DB6A2B8F-1BB4-41AC-AA73-792856DE15F3}">
      <dgm:prSet/>
      <dgm:spPr/>
      <dgm:t>
        <a:bodyPr/>
        <a:lstStyle/>
        <a:p>
          <a:r>
            <a:rPr lang="pl-PL" b="1" i="0" baseline="0"/>
            <a:t>D (Dependency Inversion):</a:t>
          </a:r>
          <a:r>
            <a:rPr lang="pl-PL" b="0" i="0" baseline="0"/>
            <a:t> Moduły wysokiego poziomu nie powinny zależeć od detali, lecz od abstrakcji.</a:t>
          </a:r>
          <a:endParaRPr lang="en-US"/>
        </a:p>
      </dgm:t>
    </dgm:pt>
    <dgm:pt modelId="{042846A8-53FA-4A84-B62D-FFB07782DB4D}" type="parTrans" cxnId="{4D881337-DBAF-421A-AD2E-0C90AD3F9AFA}">
      <dgm:prSet/>
      <dgm:spPr/>
      <dgm:t>
        <a:bodyPr/>
        <a:lstStyle/>
        <a:p>
          <a:endParaRPr lang="en-US"/>
        </a:p>
      </dgm:t>
    </dgm:pt>
    <dgm:pt modelId="{CF4E8093-A0F9-464D-9163-BB50FEDFA840}" type="sibTrans" cxnId="{4D881337-DBAF-421A-AD2E-0C90AD3F9AFA}">
      <dgm:prSet/>
      <dgm:spPr/>
      <dgm:t>
        <a:bodyPr/>
        <a:lstStyle/>
        <a:p>
          <a:endParaRPr lang="en-US"/>
        </a:p>
      </dgm:t>
    </dgm:pt>
    <dgm:pt modelId="{5A662A6C-BCC6-4736-8D50-F56A00768BA8}" type="pres">
      <dgm:prSet presAssocID="{2AB69849-A9F9-4F1B-9C5E-C83610C20812}" presName="outerComposite" presStyleCnt="0">
        <dgm:presLayoutVars>
          <dgm:chMax val="5"/>
          <dgm:dir/>
          <dgm:resizeHandles val="exact"/>
        </dgm:presLayoutVars>
      </dgm:prSet>
      <dgm:spPr/>
    </dgm:pt>
    <dgm:pt modelId="{27B35909-B5BF-46F7-8813-6B3030A93762}" type="pres">
      <dgm:prSet presAssocID="{2AB69849-A9F9-4F1B-9C5E-C83610C20812}" presName="dummyMaxCanvas" presStyleCnt="0">
        <dgm:presLayoutVars/>
      </dgm:prSet>
      <dgm:spPr/>
    </dgm:pt>
    <dgm:pt modelId="{0E4C0341-BFA2-4BBD-A0B5-09CAA4E40319}" type="pres">
      <dgm:prSet presAssocID="{2AB69849-A9F9-4F1B-9C5E-C83610C20812}" presName="FiveNodes_1" presStyleLbl="node1" presStyleIdx="0" presStyleCnt="5">
        <dgm:presLayoutVars>
          <dgm:bulletEnabled val="1"/>
        </dgm:presLayoutVars>
      </dgm:prSet>
      <dgm:spPr/>
    </dgm:pt>
    <dgm:pt modelId="{281C27B1-BD6C-4B47-9B4E-A30C88568367}" type="pres">
      <dgm:prSet presAssocID="{2AB69849-A9F9-4F1B-9C5E-C83610C20812}" presName="FiveNodes_2" presStyleLbl="node1" presStyleIdx="1" presStyleCnt="5">
        <dgm:presLayoutVars>
          <dgm:bulletEnabled val="1"/>
        </dgm:presLayoutVars>
      </dgm:prSet>
      <dgm:spPr/>
    </dgm:pt>
    <dgm:pt modelId="{8ED9BF89-B0BF-4D84-852E-D962DF7C3F90}" type="pres">
      <dgm:prSet presAssocID="{2AB69849-A9F9-4F1B-9C5E-C83610C20812}" presName="FiveNodes_3" presStyleLbl="node1" presStyleIdx="2" presStyleCnt="5">
        <dgm:presLayoutVars>
          <dgm:bulletEnabled val="1"/>
        </dgm:presLayoutVars>
      </dgm:prSet>
      <dgm:spPr/>
    </dgm:pt>
    <dgm:pt modelId="{03D24F17-5CE9-43FA-86D9-8614CBE5FA23}" type="pres">
      <dgm:prSet presAssocID="{2AB69849-A9F9-4F1B-9C5E-C83610C20812}" presName="FiveNodes_4" presStyleLbl="node1" presStyleIdx="3" presStyleCnt="5">
        <dgm:presLayoutVars>
          <dgm:bulletEnabled val="1"/>
        </dgm:presLayoutVars>
      </dgm:prSet>
      <dgm:spPr/>
    </dgm:pt>
    <dgm:pt modelId="{8E08A187-E47C-4359-9579-EC0E9D4B3711}" type="pres">
      <dgm:prSet presAssocID="{2AB69849-A9F9-4F1B-9C5E-C83610C20812}" presName="FiveNodes_5" presStyleLbl="node1" presStyleIdx="4" presStyleCnt="5">
        <dgm:presLayoutVars>
          <dgm:bulletEnabled val="1"/>
        </dgm:presLayoutVars>
      </dgm:prSet>
      <dgm:spPr/>
    </dgm:pt>
    <dgm:pt modelId="{EB2E5EDB-0A64-4184-91AD-610238FF1676}" type="pres">
      <dgm:prSet presAssocID="{2AB69849-A9F9-4F1B-9C5E-C83610C20812}" presName="FiveConn_1-2" presStyleLbl="fgAccFollowNode1" presStyleIdx="0" presStyleCnt="4">
        <dgm:presLayoutVars>
          <dgm:bulletEnabled val="1"/>
        </dgm:presLayoutVars>
      </dgm:prSet>
      <dgm:spPr/>
    </dgm:pt>
    <dgm:pt modelId="{63A230A3-B323-43CD-962D-3B2C44D6A7FA}" type="pres">
      <dgm:prSet presAssocID="{2AB69849-A9F9-4F1B-9C5E-C83610C20812}" presName="FiveConn_2-3" presStyleLbl="fgAccFollowNode1" presStyleIdx="1" presStyleCnt="4">
        <dgm:presLayoutVars>
          <dgm:bulletEnabled val="1"/>
        </dgm:presLayoutVars>
      </dgm:prSet>
      <dgm:spPr/>
    </dgm:pt>
    <dgm:pt modelId="{4BD8688A-6040-4484-8A5F-ABD1FF2D875C}" type="pres">
      <dgm:prSet presAssocID="{2AB69849-A9F9-4F1B-9C5E-C83610C20812}" presName="FiveConn_3-4" presStyleLbl="fgAccFollowNode1" presStyleIdx="2" presStyleCnt="4">
        <dgm:presLayoutVars>
          <dgm:bulletEnabled val="1"/>
        </dgm:presLayoutVars>
      </dgm:prSet>
      <dgm:spPr/>
    </dgm:pt>
    <dgm:pt modelId="{549255A9-24B7-4AB2-A379-A96433448D6C}" type="pres">
      <dgm:prSet presAssocID="{2AB69849-A9F9-4F1B-9C5E-C83610C20812}" presName="FiveConn_4-5" presStyleLbl="fgAccFollowNode1" presStyleIdx="3" presStyleCnt="4">
        <dgm:presLayoutVars>
          <dgm:bulletEnabled val="1"/>
        </dgm:presLayoutVars>
      </dgm:prSet>
      <dgm:spPr/>
    </dgm:pt>
    <dgm:pt modelId="{82CF9E78-70B2-4B68-B2A7-74D4E2CC6500}" type="pres">
      <dgm:prSet presAssocID="{2AB69849-A9F9-4F1B-9C5E-C83610C20812}" presName="FiveNodes_1_text" presStyleLbl="node1" presStyleIdx="4" presStyleCnt="5">
        <dgm:presLayoutVars>
          <dgm:bulletEnabled val="1"/>
        </dgm:presLayoutVars>
      </dgm:prSet>
      <dgm:spPr/>
    </dgm:pt>
    <dgm:pt modelId="{77B64809-09B4-4482-866E-AEEB50A9A493}" type="pres">
      <dgm:prSet presAssocID="{2AB69849-A9F9-4F1B-9C5E-C83610C20812}" presName="FiveNodes_2_text" presStyleLbl="node1" presStyleIdx="4" presStyleCnt="5">
        <dgm:presLayoutVars>
          <dgm:bulletEnabled val="1"/>
        </dgm:presLayoutVars>
      </dgm:prSet>
      <dgm:spPr/>
    </dgm:pt>
    <dgm:pt modelId="{E7A623F3-1B8A-44C6-924E-DC17143D1B49}" type="pres">
      <dgm:prSet presAssocID="{2AB69849-A9F9-4F1B-9C5E-C83610C20812}" presName="FiveNodes_3_text" presStyleLbl="node1" presStyleIdx="4" presStyleCnt="5">
        <dgm:presLayoutVars>
          <dgm:bulletEnabled val="1"/>
        </dgm:presLayoutVars>
      </dgm:prSet>
      <dgm:spPr/>
    </dgm:pt>
    <dgm:pt modelId="{86D0CD44-9C7D-43FA-A115-CE05FB60E907}" type="pres">
      <dgm:prSet presAssocID="{2AB69849-A9F9-4F1B-9C5E-C83610C20812}" presName="FiveNodes_4_text" presStyleLbl="node1" presStyleIdx="4" presStyleCnt="5">
        <dgm:presLayoutVars>
          <dgm:bulletEnabled val="1"/>
        </dgm:presLayoutVars>
      </dgm:prSet>
      <dgm:spPr/>
    </dgm:pt>
    <dgm:pt modelId="{A7286725-3F61-444B-9EA4-605A86798960}" type="pres">
      <dgm:prSet presAssocID="{2AB69849-A9F9-4F1B-9C5E-C83610C2081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47FFC28-D09E-42F2-9CBC-4F1CB5CF3148}" type="presOf" srcId="{3C3D84F4-1817-4981-82E7-A3C8CB1DC4CB}" destId="{EB2E5EDB-0A64-4184-91AD-610238FF1676}" srcOrd="0" destOrd="0" presId="urn:microsoft.com/office/officeart/2005/8/layout/vProcess5"/>
    <dgm:cxn modelId="{02D3A535-E287-48E2-BB4E-8131BE57D48B}" type="presOf" srcId="{1B052678-B0FB-46ED-A979-875BC52D2933}" destId="{86D0CD44-9C7D-43FA-A115-CE05FB60E907}" srcOrd="1" destOrd="0" presId="urn:microsoft.com/office/officeart/2005/8/layout/vProcess5"/>
    <dgm:cxn modelId="{4D881337-DBAF-421A-AD2E-0C90AD3F9AFA}" srcId="{2AB69849-A9F9-4F1B-9C5E-C83610C20812}" destId="{DB6A2B8F-1BB4-41AC-AA73-792856DE15F3}" srcOrd="4" destOrd="0" parTransId="{042846A8-53FA-4A84-B62D-FFB07782DB4D}" sibTransId="{CF4E8093-A0F9-464D-9163-BB50FEDFA840}"/>
    <dgm:cxn modelId="{B25D0F62-5867-4901-9F9D-66EB7A250A3D}" type="presOf" srcId="{CADB764A-C54D-4B6D-A328-0D94A7B1D568}" destId="{82CF9E78-70B2-4B68-B2A7-74D4E2CC6500}" srcOrd="1" destOrd="0" presId="urn:microsoft.com/office/officeart/2005/8/layout/vProcess5"/>
    <dgm:cxn modelId="{2F714644-9E42-405B-B8C7-DB10445E5ABA}" srcId="{2AB69849-A9F9-4F1B-9C5E-C83610C20812}" destId="{E6DAD13D-7DA4-46E2-B170-ED2010E62845}" srcOrd="2" destOrd="0" parTransId="{90B1688B-ECF6-4CBE-A37A-FBF635EF1FA9}" sibTransId="{876D237F-8ECE-43DA-A60B-DDB17BEA0765}"/>
    <dgm:cxn modelId="{8C1C8E67-5C36-4666-891A-418EDBCB6944}" type="presOf" srcId="{87E10DF5-10F5-4AE4-AFCF-A862CD3C7AD7}" destId="{63A230A3-B323-43CD-962D-3B2C44D6A7FA}" srcOrd="0" destOrd="0" presId="urn:microsoft.com/office/officeart/2005/8/layout/vProcess5"/>
    <dgm:cxn modelId="{3722336B-B1E9-4D18-AB4F-75AE44E79F92}" srcId="{2AB69849-A9F9-4F1B-9C5E-C83610C20812}" destId="{CADB764A-C54D-4B6D-A328-0D94A7B1D568}" srcOrd="0" destOrd="0" parTransId="{3BACC577-A70D-412B-9C6D-2DE2E4DA2CF4}" sibTransId="{3C3D84F4-1817-4981-82E7-A3C8CB1DC4CB}"/>
    <dgm:cxn modelId="{F2ABEE4C-6134-4131-916B-20114D99E442}" type="presOf" srcId="{876D237F-8ECE-43DA-A60B-DDB17BEA0765}" destId="{4BD8688A-6040-4484-8A5F-ABD1FF2D875C}" srcOrd="0" destOrd="0" presId="urn:microsoft.com/office/officeart/2005/8/layout/vProcess5"/>
    <dgm:cxn modelId="{05335B52-226F-4DA4-9083-8B8FB9ACB0E9}" type="presOf" srcId="{DC5BB5D8-1CCF-4DED-83B6-20FF05626277}" destId="{549255A9-24B7-4AB2-A379-A96433448D6C}" srcOrd="0" destOrd="0" presId="urn:microsoft.com/office/officeart/2005/8/layout/vProcess5"/>
    <dgm:cxn modelId="{7AE36372-1EAA-4D5E-B7C5-F1F3E80C43DA}" type="presOf" srcId="{DB6A2B8F-1BB4-41AC-AA73-792856DE15F3}" destId="{A7286725-3F61-444B-9EA4-605A86798960}" srcOrd="1" destOrd="0" presId="urn:microsoft.com/office/officeart/2005/8/layout/vProcess5"/>
    <dgm:cxn modelId="{B9EA6276-B854-4694-8241-F5BEF1D1663E}" srcId="{2AB69849-A9F9-4F1B-9C5E-C83610C20812}" destId="{1B052678-B0FB-46ED-A979-875BC52D2933}" srcOrd="3" destOrd="0" parTransId="{70252430-B5E8-4920-999E-939775516B34}" sibTransId="{DC5BB5D8-1CCF-4DED-83B6-20FF05626277}"/>
    <dgm:cxn modelId="{9616A582-3A0D-4004-917A-4EC76FBFCBA1}" srcId="{2AB69849-A9F9-4F1B-9C5E-C83610C20812}" destId="{679A5A6E-C6DB-4AE0-BFD3-870EC797B414}" srcOrd="1" destOrd="0" parTransId="{6C0C0B91-605A-42D1-BCAC-806ED7808483}" sibTransId="{87E10DF5-10F5-4AE4-AFCF-A862CD3C7AD7}"/>
    <dgm:cxn modelId="{FE5513AC-A4FB-400F-A5F9-06BDB916FD70}" type="presOf" srcId="{DB6A2B8F-1BB4-41AC-AA73-792856DE15F3}" destId="{8E08A187-E47C-4359-9579-EC0E9D4B3711}" srcOrd="0" destOrd="0" presId="urn:microsoft.com/office/officeart/2005/8/layout/vProcess5"/>
    <dgm:cxn modelId="{8E20E9B0-9DAB-4343-A82C-340F975B4F40}" type="presOf" srcId="{2AB69849-A9F9-4F1B-9C5E-C83610C20812}" destId="{5A662A6C-BCC6-4736-8D50-F56A00768BA8}" srcOrd="0" destOrd="0" presId="urn:microsoft.com/office/officeart/2005/8/layout/vProcess5"/>
    <dgm:cxn modelId="{081E6EBF-E873-4C08-91E7-E0513BC7E3C6}" type="presOf" srcId="{679A5A6E-C6DB-4AE0-BFD3-870EC797B414}" destId="{281C27B1-BD6C-4B47-9B4E-A30C88568367}" srcOrd="0" destOrd="0" presId="urn:microsoft.com/office/officeart/2005/8/layout/vProcess5"/>
    <dgm:cxn modelId="{23EC97C2-75BE-4683-A774-3FCB1515AF8D}" type="presOf" srcId="{E6DAD13D-7DA4-46E2-B170-ED2010E62845}" destId="{8ED9BF89-B0BF-4D84-852E-D962DF7C3F90}" srcOrd="0" destOrd="0" presId="urn:microsoft.com/office/officeart/2005/8/layout/vProcess5"/>
    <dgm:cxn modelId="{22492BD5-5203-4267-A3F3-82CE43BEBD08}" type="presOf" srcId="{E6DAD13D-7DA4-46E2-B170-ED2010E62845}" destId="{E7A623F3-1B8A-44C6-924E-DC17143D1B49}" srcOrd="1" destOrd="0" presId="urn:microsoft.com/office/officeart/2005/8/layout/vProcess5"/>
    <dgm:cxn modelId="{EE6F71DA-62BE-401E-846C-D43E9278A3C9}" type="presOf" srcId="{679A5A6E-C6DB-4AE0-BFD3-870EC797B414}" destId="{77B64809-09B4-4482-866E-AEEB50A9A493}" srcOrd="1" destOrd="0" presId="urn:microsoft.com/office/officeart/2005/8/layout/vProcess5"/>
    <dgm:cxn modelId="{C1D23FDE-22E4-4E4F-85AB-A5C2025066F0}" type="presOf" srcId="{1B052678-B0FB-46ED-A979-875BC52D2933}" destId="{03D24F17-5CE9-43FA-86D9-8614CBE5FA23}" srcOrd="0" destOrd="0" presId="urn:microsoft.com/office/officeart/2005/8/layout/vProcess5"/>
    <dgm:cxn modelId="{B88285DE-43B5-48FB-9566-D109EA8A0569}" type="presOf" srcId="{CADB764A-C54D-4B6D-A328-0D94A7B1D568}" destId="{0E4C0341-BFA2-4BBD-A0B5-09CAA4E40319}" srcOrd="0" destOrd="0" presId="urn:microsoft.com/office/officeart/2005/8/layout/vProcess5"/>
    <dgm:cxn modelId="{1674FDC1-BE14-41A7-AB7D-9B77E1D311AF}" type="presParOf" srcId="{5A662A6C-BCC6-4736-8D50-F56A00768BA8}" destId="{27B35909-B5BF-46F7-8813-6B3030A93762}" srcOrd="0" destOrd="0" presId="urn:microsoft.com/office/officeart/2005/8/layout/vProcess5"/>
    <dgm:cxn modelId="{AED9FA5A-1EA6-4D8A-AFD8-87E302FF0181}" type="presParOf" srcId="{5A662A6C-BCC6-4736-8D50-F56A00768BA8}" destId="{0E4C0341-BFA2-4BBD-A0B5-09CAA4E40319}" srcOrd="1" destOrd="0" presId="urn:microsoft.com/office/officeart/2005/8/layout/vProcess5"/>
    <dgm:cxn modelId="{D5E27847-D5B2-4B9B-ADA6-EFC6757BFBFE}" type="presParOf" srcId="{5A662A6C-BCC6-4736-8D50-F56A00768BA8}" destId="{281C27B1-BD6C-4B47-9B4E-A30C88568367}" srcOrd="2" destOrd="0" presId="urn:microsoft.com/office/officeart/2005/8/layout/vProcess5"/>
    <dgm:cxn modelId="{AB400FFF-197E-4416-8E60-E2A7802D3082}" type="presParOf" srcId="{5A662A6C-BCC6-4736-8D50-F56A00768BA8}" destId="{8ED9BF89-B0BF-4D84-852E-D962DF7C3F90}" srcOrd="3" destOrd="0" presId="urn:microsoft.com/office/officeart/2005/8/layout/vProcess5"/>
    <dgm:cxn modelId="{50D526D9-B576-4163-AB08-551CFEF980A6}" type="presParOf" srcId="{5A662A6C-BCC6-4736-8D50-F56A00768BA8}" destId="{03D24F17-5CE9-43FA-86D9-8614CBE5FA23}" srcOrd="4" destOrd="0" presId="urn:microsoft.com/office/officeart/2005/8/layout/vProcess5"/>
    <dgm:cxn modelId="{000F75F9-11EB-4721-8393-B643609DAF8B}" type="presParOf" srcId="{5A662A6C-BCC6-4736-8D50-F56A00768BA8}" destId="{8E08A187-E47C-4359-9579-EC0E9D4B3711}" srcOrd="5" destOrd="0" presId="urn:microsoft.com/office/officeart/2005/8/layout/vProcess5"/>
    <dgm:cxn modelId="{F37071DB-5C44-4DEC-B7D3-2B91C924DD1F}" type="presParOf" srcId="{5A662A6C-BCC6-4736-8D50-F56A00768BA8}" destId="{EB2E5EDB-0A64-4184-91AD-610238FF1676}" srcOrd="6" destOrd="0" presId="urn:microsoft.com/office/officeart/2005/8/layout/vProcess5"/>
    <dgm:cxn modelId="{3B8BDA6F-825F-437E-B8F3-BE9A9CC93A14}" type="presParOf" srcId="{5A662A6C-BCC6-4736-8D50-F56A00768BA8}" destId="{63A230A3-B323-43CD-962D-3B2C44D6A7FA}" srcOrd="7" destOrd="0" presId="urn:microsoft.com/office/officeart/2005/8/layout/vProcess5"/>
    <dgm:cxn modelId="{389E9177-A5D6-4DE7-AFF7-DB61797C3D4D}" type="presParOf" srcId="{5A662A6C-BCC6-4736-8D50-F56A00768BA8}" destId="{4BD8688A-6040-4484-8A5F-ABD1FF2D875C}" srcOrd="8" destOrd="0" presId="urn:microsoft.com/office/officeart/2005/8/layout/vProcess5"/>
    <dgm:cxn modelId="{DE5F9B00-6890-43DC-819D-CDFF607B0754}" type="presParOf" srcId="{5A662A6C-BCC6-4736-8D50-F56A00768BA8}" destId="{549255A9-24B7-4AB2-A379-A96433448D6C}" srcOrd="9" destOrd="0" presId="urn:microsoft.com/office/officeart/2005/8/layout/vProcess5"/>
    <dgm:cxn modelId="{83FED29B-62D6-42BF-97D4-38ED446DA20F}" type="presParOf" srcId="{5A662A6C-BCC6-4736-8D50-F56A00768BA8}" destId="{82CF9E78-70B2-4B68-B2A7-74D4E2CC6500}" srcOrd="10" destOrd="0" presId="urn:microsoft.com/office/officeart/2005/8/layout/vProcess5"/>
    <dgm:cxn modelId="{683EA2D0-A6E0-42FE-9FB9-ACA0F5F31159}" type="presParOf" srcId="{5A662A6C-BCC6-4736-8D50-F56A00768BA8}" destId="{77B64809-09B4-4482-866E-AEEB50A9A493}" srcOrd="11" destOrd="0" presId="urn:microsoft.com/office/officeart/2005/8/layout/vProcess5"/>
    <dgm:cxn modelId="{9FCA4A65-A622-4136-9F55-B66277167321}" type="presParOf" srcId="{5A662A6C-BCC6-4736-8D50-F56A00768BA8}" destId="{E7A623F3-1B8A-44C6-924E-DC17143D1B49}" srcOrd="12" destOrd="0" presId="urn:microsoft.com/office/officeart/2005/8/layout/vProcess5"/>
    <dgm:cxn modelId="{E957A89E-31CD-4BB8-A55F-DA2C97FBC5BF}" type="presParOf" srcId="{5A662A6C-BCC6-4736-8D50-F56A00768BA8}" destId="{86D0CD44-9C7D-43FA-A115-CE05FB60E907}" srcOrd="13" destOrd="0" presId="urn:microsoft.com/office/officeart/2005/8/layout/vProcess5"/>
    <dgm:cxn modelId="{19E3CC4D-E27B-4980-9851-FCFA08B2AA48}" type="presParOf" srcId="{5A662A6C-BCC6-4736-8D50-F56A00768BA8}" destId="{A7286725-3F61-444B-9EA4-605A8679896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47EC6-3A95-4CDD-A41F-8EE3AE4BBE45}">
      <dsp:nvSpPr>
        <dsp:cNvPr id="0" name=""/>
        <dsp:cNvSpPr/>
      </dsp:nvSpPr>
      <dsp:spPr>
        <a:xfrm>
          <a:off x="0" y="0"/>
          <a:ext cx="8813308" cy="11564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1" i="0" kern="1200" baseline="0"/>
            <a:t>Hermetyzacja (Enkapsulacja):</a:t>
          </a:r>
          <a:r>
            <a:rPr lang="pl-PL" sz="1800" b="0" i="0" kern="1200" baseline="0"/>
            <a:t> Ukrywanie wewnętrznego stanu obiektu. Dostęp do danych tylko przez metody publiczne (gettery/settery), co chroni przed błędami.</a:t>
          </a:r>
          <a:endParaRPr lang="en-US" sz="1800" kern="1200"/>
        </a:p>
      </dsp:txBody>
      <dsp:txXfrm>
        <a:off x="33871" y="33871"/>
        <a:ext cx="7467690" cy="1088706"/>
      </dsp:txXfrm>
    </dsp:sp>
    <dsp:sp modelId="{D3D549AE-4CFC-4B51-A38C-3BA0F1839399}">
      <dsp:nvSpPr>
        <dsp:cNvPr id="0" name=""/>
        <dsp:cNvSpPr/>
      </dsp:nvSpPr>
      <dsp:spPr>
        <a:xfrm>
          <a:off x="738114" y="1366711"/>
          <a:ext cx="8813308" cy="11564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1" i="0" kern="1200" baseline="0"/>
            <a:t>Dziedziczenie (Inheritance):</a:t>
          </a:r>
          <a:r>
            <a:rPr lang="pl-PL" sz="1800" b="0" i="0" kern="1200" baseline="0"/>
            <a:t> Tworzenie klas pochodnych na bazie istniejących (np. Samochód dziedziczy po Pojeździe). Pozwala na rozszerzanie funkcjonalności bez przepisywania kodu.</a:t>
          </a:r>
          <a:endParaRPr lang="en-US" sz="1800" kern="1200"/>
        </a:p>
      </dsp:txBody>
      <dsp:txXfrm>
        <a:off x="771985" y="1400582"/>
        <a:ext cx="7255759" cy="1088706"/>
      </dsp:txXfrm>
    </dsp:sp>
    <dsp:sp modelId="{E4D34DEB-BD36-4936-9558-1F5FAC70F3F0}">
      <dsp:nvSpPr>
        <dsp:cNvPr id="0" name=""/>
        <dsp:cNvSpPr/>
      </dsp:nvSpPr>
      <dsp:spPr>
        <a:xfrm>
          <a:off x="1465212" y="2733423"/>
          <a:ext cx="8813308" cy="11564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1" i="0" kern="1200" baseline="0"/>
            <a:t>Polimorfizm:</a:t>
          </a:r>
          <a:r>
            <a:rPr lang="pl-PL" sz="1800" b="0" i="0" kern="1200" baseline="0"/>
            <a:t> Zdolność obiektów różnych klas do reagowania na to samo wywołanie metody w specyficzny dla siebie sposób (np. metoda jedź działa inaczej dla auta i motocykla).</a:t>
          </a:r>
          <a:endParaRPr lang="en-US" sz="1800" kern="1200"/>
        </a:p>
      </dsp:txBody>
      <dsp:txXfrm>
        <a:off x="1499083" y="2767294"/>
        <a:ext cx="7266776" cy="1088706"/>
      </dsp:txXfrm>
    </dsp:sp>
    <dsp:sp modelId="{B62B5FCA-A361-41BC-BFD8-B71E8FF182FF}">
      <dsp:nvSpPr>
        <dsp:cNvPr id="0" name=""/>
        <dsp:cNvSpPr/>
      </dsp:nvSpPr>
      <dsp:spPr>
        <a:xfrm>
          <a:off x="2203326" y="4100135"/>
          <a:ext cx="8813308" cy="11564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1" i="0" kern="1200" baseline="0"/>
            <a:t>Abstrakcja:</a:t>
          </a:r>
          <a:r>
            <a:rPr lang="pl-PL" sz="1800" b="0" i="0" kern="1200" baseline="0"/>
            <a:t> Ukrywanie skomplikowanych detali implementacyjnych, udostępnianie prostego interfejsu (np. pedał gazu zamiast mechanizmu wtrysku).</a:t>
          </a:r>
          <a:endParaRPr lang="en-US" sz="1800" kern="1200"/>
        </a:p>
      </dsp:txBody>
      <dsp:txXfrm>
        <a:off x="2237197" y="4134006"/>
        <a:ext cx="7255759" cy="1088706"/>
      </dsp:txXfrm>
    </dsp:sp>
    <dsp:sp modelId="{03BE7EE9-579D-4D0B-B5E2-8843E85135E4}">
      <dsp:nvSpPr>
        <dsp:cNvPr id="0" name=""/>
        <dsp:cNvSpPr/>
      </dsp:nvSpPr>
      <dsp:spPr>
        <a:xfrm>
          <a:off x="8061616" y="885734"/>
          <a:ext cx="751691" cy="75169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230746" y="885734"/>
        <a:ext cx="413431" cy="565647"/>
      </dsp:txXfrm>
    </dsp:sp>
    <dsp:sp modelId="{D8BA0350-F683-4D4D-9804-4CA456E215BD}">
      <dsp:nvSpPr>
        <dsp:cNvPr id="0" name=""/>
        <dsp:cNvSpPr/>
      </dsp:nvSpPr>
      <dsp:spPr>
        <a:xfrm>
          <a:off x="8799731" y="2252446"/>
          <a:ext cx="751691" cy="75169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968861" y="2252446"/>
        <a:ext cx="413431" cy="565647"/>
      </dsp:txXfrm>
    </dsp:sp>
    <dsp:sp modelId="{F868CBBE-8497-49EC-AF10-5A56177DCB6E}">
      <dsp:nvSpPr>
        <dsp:cNvPr id="0" name=""/>
        <dsp:cNvSpPr/>
      </dsp:nvSpPr>
      <dsp:spPr>
        <a:xfrm>
          <a:off x="9526828" y="3619158"/>
          <a:ext cx="751691" cy="75169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9695958" y="3619158"/>
        <a:ext cx="413431" cy="565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C0341-BFA2-4BBD-A0B5-09CAA4E40319}">
      <dsp:nvSpPr>
        <dsp:cNvPr id="0" name=""/>
        <dsp:cNvSpPr/>
      </dsp:nvSpPr>
      <dsp:spPr>
        <a:xfrm>
          <a:off x="0" y="0"/>
          <a:ext cx="8482808" cy="946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i="0" kern="1200" baseline="0"/>
            <a:t>S (Single Responsibility):</a:t>
          </a:r>
          <a:r>
            <a:rPr lang="pl-PL" sz="2200" b="0" i="0" kern="1200" baseline="0"/>
            <a:t> Klasa powinna mieć tylko jedną odpowiedzialność (jeden powód do zmiany).</a:t>
          </a:r>
          <a:endParaRPr lang="en-US" sz="2200" kern="1200"/>
        </a:p>
      </dsp:txBody>
      <dsp:txXfrm>
        <a:off x="27713" y="27713"/>
        <a:ext cx="7351097" cy="890759"/>
      </dsp:txXfrm>
    </dsp:sp>
    <dsp:sp modelId="{281C27B1-BD6C-4B47-9B4E-A30C88568367}">
      <dsp:nvSpPr>
        <dsp:cNvPr id="0" name=""/>
        <dsp:cNvSpPr/>
      </dsp:nvSpPr>
      <dsp:spPr>
        <a:xfrm>
          <a:off x="633456" y="1077599"/>
          <a:ext cx="8482808" cy="946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i="0" kern="1200" baseline="0"/>
            <a:t>O (Open/Closed):</a:t>
          </a:r>
          <a:r>
            <a:rPr lang="pl-PL" sz="2200" b="0" i="0" kern="1200" baseline="0"/>
            <a:t> Kod otwarty na rozszerzenia, zamknięty na modyfikacje.</a:t>
          </a:r>
          <a:endParaRPr lang="en-US" sz="2200" kern="1200"/>
        </a:p>
      </dsp:txBody>
      <dsp:txXfrm>
        <a:off x="661169" y="1105312"/>
        <a:ext cx="7178906" cy="890759"/>
      </dsp:txXfrm>
    </dsp:sp>
    <dsp:sp modelId="{8ED9BF89-B0BF-4D84-852E-D962DF7C3F90}">
      <dsp:nvSpPr>
        <dsp:cNvPr id="0" name=""/>
        <dsp:cNvSpPr/>
      </dsp:nvSpPr>
      <dsp:spPr>
        <a:xfrm>
          <a:off x="1266913" y="2155199"/>
          <a:ext cx="8482808" cy="946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i="0" kern="1200" baseline="0"/>
            <a:t>L (Liskov Substitution):</a:t>
          </a:r>
          <a:r>
            <a:rPr lang="pl-PL" sz="2200" b="0" i="0" kern="1200" baseline="0"/>
            <a:t> Klasa pochodna musi móc zastąpić klasę bazową bez psucia programu.</a:t>
          </a:r>
          <a:endParaRPr lang="en-US" sz="2200" kern="1200"/>
        </a:p>
      </dsp:txBody>
      <dsp:txXfrm>
        <a:off x="1294626" y="2182912"/>
        <a:ext cx="7178906" cy="890759"/>
      </dsp:txXfrm>
    </dsp:sp>
    <dsp:sp modelId="{03D24F17-5CE9-43FA-86D9-8614CBE5FA23}">
      <dsp:nvSpPr>
        <dsp:cNvPr id="0" name=""/>
        <dsp:cNvSpPr/>
      </dsp:nvSpPr>
      <dsp:spPr>
        <a:xfrm>
          <a:off x="1900369" y="3232799"/>
          <a:ext cx="8482808" cy="946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i="0" kern="1200" baseline="0"/>
            <a:t>I (Interface Segregation):</a:t>
          </a:r>
          <a:r>
            <a:rPr lang="pl-PL" sz="2200" b="0" i="0" kern="1200" baseline="0"/>
            <a:t> Wiele małych interfejsów jest lepsze niż jeden ogólny ("kobyła").</a:t>
          </a:r>
          <a:endParaRPr lang="en-US" sz="2200" kern="1200"/>
        </a:p>
      </dsp:txBody>
      <dsp:txXfrm>
        <a:off x="1928082" y="3260512"/>
        <a:ext cx="7178906" cy="890759"/>
      </dsp:txXfrm>
    </dsp:sp>
    <dsp:sp modelId="{8E08A187-E47C-4359-9579-EC0E9D4B3711}">
      <dsp:nvSpPr>
        <dsp:cNvPr id="0" name=""/>
        <dsp:cNvSpPr/>
      </dsp:nvSpPr>
      <dsp:spPr>
        <a:xfrm>
          <a:off x="2533826" y="4310398"/>
          <a:ext cx="8482808" cy="946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1" i="0" kern="1200" baseline="0"/>
            <a:t>D (Dependency Inversion):</a:t>
          </a:r>
          <a:r>
            <a:rPr lang="pl-PL" sz="2200" b="0" i="0" kern="1200" baseline="0"/>
            <a:t> Moduły wysokiego poziomu nie powinny zależeć od detali, lecz od abstrakcji.</a:t>
          </a:r>
          <a:endParaRPr lang="en-US" sz="2200" kern="1200"/>
        </a:p>
      </dsp:txBody>
      <dsp:txXfrm>
        <a:off x="2561539" y="4338111"/>
        <a:ext cx="7178906" cy="890759"/>
      </dsp:txXfrm>
    </dsp:sp>
    <dsp:sp modelId="{EB2E5EDB-0A64-4184-91AD-610238FF1676}">
      <dsp:nvSpPr>
        <dsp:cNvPr id="0" name=""/>
        <dsp:cNvSpPr/>
      </dsp:nvSpPr>
      <dsp:spPr>
        <a:xfrm>
          <a:off x="7867788" y="691240"/>
          <a:ext cx="615020" cy="61502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006168" y="691240"/>
        <a:ext cx="338261" cy="462803"/>
      </dsp:txXfrm>
    </dsp:sp>
    <dsp:sp modelId="{63A230A3-B323-43CD-962D-3B2C44D6A7FA}">
      <dsp:nvSpPr>
        <dsp:cNvPr id="0" name=""/>
        <dsp:cNvSpPr/>
      </dsp:nvSpPr>
      <dsp:spPr>
        <a:xfrm>
          <a:off x="8501245" y="1768840"/>
          <a:ext cx="615020" cy="61502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639625" y="1768840"/>
        <a:ext cx="338261" cy="462803"/>
      </dsp:txXfrm>
    </dsp:sp>
    <dsp:sp modelId="{4BD8688A-6040-4484-8A5F-ABD1FF2D875C}">
      <dsp:nvSpPr>
        <dsp:cNvPr id="0" name=""/>
        <dsp:cNvSpPr/>
      </dsp:nvSpPr>
      <dsp:spPr>
        <a:xfrm>
          <a:off x="9134701" y="2830670"/>
          <a:ext cx="615020" cy="61502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9273081" y="2830670"/>
        <a:ext cx="338261" cy="462803"/>
      </dsp:txXfrm>
    </dsp:sp>
    <dsp:sp modelId="{549255A9-24B7-4AB2-A379-A96433448D6C}">
      <dsp:nvSpPr>
        <dsp:cNvPr id="0" name=""/>
        <dsp:cNvSpPr/>
      </dsp:nvSpPr>
      <dsp:spPr>
        <a:xfrm>
          <a:off x="9768158" y="3918783"/>
          <a:ext cx="615020" cy="61502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9906538" y="3918783"/>
        <a:ext cx="338261" cy="46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410370A-4EA9-4720-9F5E-1510D96B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30C2684-42A7-4DF6-9FE1-7001D18670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8051A36-CCDA-46D6-8751-4C8D74526861}" type="datetimeFigureOut">
              <a:rPr lang="pl-PL"/>
              <a:pPr>
                <a:defRPr/>
              </a:pPr>
              <a:t>19.01.2026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ACFDFD6-3813-49B7-BB0F-191E9B212A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82F540B-711C-459B-8E06-9C4104A3CF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8F4FCD9-BA7F-48A7-B3B3-82ADBA7B3B21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D818A71B-DC1F-408C-B3D1-E849FB7B4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C2135F-0056-4A00-9936-7DC2A5ED36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9958589B-E6FC-4863-935D-DE3851DA945C}" type="datetimeFigureOut">
              <a:rPr lang="pl-PL"/>
              <a:pPr>
                <a:defRPr/>
              </a:pPr>
              <a:t>19.01.2026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2A0AA2D0-0220-4B41-946E-A13520E0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2" tIns="50141" rIns="100282" bIns="50141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ED235504-81E4-44E6-8904-ECD328F55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100282" tIns="50141" rIns="100282" bIns="50141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D310A0-03E4-4B1C-8E07-370908C2D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4850364-4A0B-4F60-93B9-58F4EA961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D580E2B2-3987-459E-9E73-FCE4CF2EC872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138B1951-AD23-4425-9B6F-B6FE41B8412E}"/>
              </a:ext>
            </a:extLst>
          </p:cNvPr>
          <p:cNvSpPr txBox="1">
            <a:spLocks/>
          </p:cNvSpPr>
          <p:nvPr/>
        </p:nvSpPr>
        <p:spPr bwMode="auto">
          <a:xfrm>
            <a:off x="387351" y="2420939"/>
            <a:ext cx="11521016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>
              <a:defRPr/>
            </a:pPr>
            <a:endParaRPr lang="pl-PL" sz="4000" kern="0" dirty="0">
              <a:latin typeface="Calibri" panose="020F050202020403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28D5811-6A0A-468C-90DC-4B945CF4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988840"/>
            <a:ext cx="10152536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871531" y="116632"/>
            <a:ext cx="10152536" cy="1728192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8F1A1287-80D1-49F2-BADB-63A496BF1E38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054E3832-9100-4002-B6F1-CF8628753A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95" y="136682"/>
            <a:ext cx="1228207" cy="1778729"/>
          </a:xfrm>
          <a:prstGeom prst="rect">
            <a:avLst/>
          </a:prstGeom>
        </p:spPr>
      </p:pic>
      <p:sp>
        <p:nvSpPr>
          <p:cNvPr id="17" name="Prostokąt 16">
            <a:extLst>
              <a:ext uri="{FF2B5EF4-FFF2-40B4-BE49-F238E27FC236}">
                <a16:creationId xmlns:a16="http://schemas.microsoft.com/office/drawing/2014/main" id="{C2A4E921-2519-4294-B815-59F4A13390F9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18" name="Symbol zastępczy obrazu 4">
            <a:extLst>
              <a:ext uri="{FF2B5EF4-FFF2-40B4-BE49-F238E27FC236}">
                <a16:creationId xmlns:a16="http://schemas.microsoft.com/office/drawing/2014/main" id="{67166448-885E-4A21-8B9D-038F6BCA9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2AF32D63-C336-4DE1-AC06-BB8C3083E5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6699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4">
            <a:extLst>
              <a:ext uri="{FF2B5EF4-FFF2-40B4-BE49-F238E27FC236}">
                <a16:creationId xmlns:a16="http://schemas.microsoft.com/office/drawing/2014/main" id="{554F3A11-EEA8-42B0-904A-8D56848B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6272226" y="2492896"/>
            <a:ext cx="5751841" cy="1152128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16632"/>
            <a:ext cx="4224469" cy="66247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6272226" y="116632"/>
            <a:ext cx="5751841" cy="2232248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2"/>
          </p:nvPr>
        </p:nvSpPr>
        <p:spPr>
          <a:xfrm>
            <a:off x="6272225" y="3861048"/>
            <a:ext cx="5751843" cy="2880320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44D2146-237E-446E-96A3-073E895DF9EF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D10C243E-6135-4B5D-8478-8D1C90B512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95" y="136682"/>
            <a:ext cx="1228207" cy="1778729"/>
          </a:xfrm>
          <a:prstGeom prst="rect">
            <a:avLst/>
          </a:prstGeom>
        </p:spPr>
      </p:pic>
      <p:sp>
        <p:nvSpPr>
          <p:cNvPr id="19" name="Prostokąt 18">
            <a:extLst>
              <a:ext uri="{FF2B5EF4-FFF2-40B4-BE49-F238E27FC236}">
                <a16:creationId xmlns:a16="http://schemas.microsoft.com/office/drawing/2014/main" id="{77C1AE52-6F05-4D88-B2EB-EBE30CDBE8CD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20" name="Symbol zastępczy obrazu 4">
            <a:extLst>
              <a:ext uri="{FF2B5EF4-FFF2-40B4-BE49-F238E27FC236}">
                <a16:creationId xmlns:a16="http://schemas.microsoft.com/office/drawing/2014/main" id="{5F46E874-101C-46F7-90BA-C3D9120F43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D719F630-3FDA-4858-AF6A-BF436F28AB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04369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4">
            <a:extLst>
              <a:ext uri="{FF2B5EF4-FFF2-40B4-BE49-F238E27FC236}">
                <a16:creationId xmlns:a16="http://schemas.microsoft.com/office/drawing/2014/main" id="{C86E8BA2-DF0C-4553-ABEE-2AA703CAD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A7CBBD8-F20F-4CFA-A1C0-A2BD928C98EE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15B8C060-797C-495C-BC8A-2154F3CEEC35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0" name="Prostokąt 9">
              <a:extLst>
                <a:ext uri="{FF2B5EF4-FFF2-40B4-BE49-F238E27FC236}">
                  <a16:creationId xmlns:a16="http://schemas.microsoft.com/office/drawing/2014/main" id="{92C32551-02FA-4391-BD24-420530585A40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1" name="Obraz 10">
              <a:extLst>
                <a:ext uri="{FF2B5EF4-FFF2-40B4-BE49-F238E27FC236}">
                  <a16:creationId xmlns:a16="http://schemas.microsoft.com/office/drawing/2014/main" id="{C94A9103-2040-4CBB-8F48-63134FA77A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8861775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a 10">
            <a:extLst>
              <a:ext uri="{FF2B5EF4-FFF2-40B4-BE49-F238E27FC236}">
                <a16:creationId xmlns:a16="http://schemas.microsoft.com/office/drawing/2014/main" id="{3AF413EC-A0EB-48C8-AAFB-7634DB218E41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2" name="Prostokąt 11">
              <a:extLst>
                <a:ext uri="{FF2B5EF4-FFF2-40B4-BE49-F238E27FC236}">
                  <a16:creationId xmlns:a16="http://schemas.microsoft.com/office/drawing/2014/main" id="{F446A836-1F6A-44FD-A507-72760F9AD1E7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3" name="Obraz 12">
              <a:extLst>
                <a:ext uri="{FF2B5EF4-FFF2-40B4-BE49-F238E27FC236}">
                  <a16:creationId xmlns:a16="http://schemas.microsoft.com/office/drawing/2014/main" id="{7E9E2F66-D036-47BF-9010-265CC9DE87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7" name="pole tekstowe 4">
            <a:extLst>
              <a:ext uri="{FF2B5EF4-FFF2-40B4-BE49-F238E27FC236}">
                <a16:creationId xmlns:a16="http://schemas.microsoft.com/office/drawing/2014/main" id="{8C20DE13-7457-4626-BE75-0D6CC48F2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DE4C6FF5-B562-440C-B37F-2991087E69D0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4" y="1844824"/>
            <a:ext cx="4896545" cy="4968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6095238" y="1844824"/>
            <a:ext cx="5953423" cy="4968553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3" y="1120626"/>
            <a:ext cx="11041227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977353814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a 8">
            <a:extLst>
              <a:ext uri="{FF2B5EF4-FFF2-40B4-BE49-F238E27FC236}">
                <a16:creationId xmlns:a16="http://schemas.microsoft.com/office/drawing/2014/main" id="{A8E7C890-083C-489A-BD2F-599A7E8934D0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1" name="Prostokąt 10">
              <a:extLst>
                <a:ext uri="{FF2B5EF4-FFF2-40B4-BE49-F238E27FC236}">
                  <a16:creationId xmlns:a16="http://schemas.microsoft.com/office/drawing/2014/main" id="{85B50D36-29A4-4384-AB09-BBD226989967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4" name="Obraz 13">
              <a:extLst>
                <a:ext uri="{FF2B5EF4-FFF2-40B4-BE49-F238E27FC236}">
                  <a16:creationId xmlns:a16="http://schemas.microsoft.com/office/drawing/2014/main" id="{A75D0FEB-0A6B-409B-AB8B-9AA6F6F46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7" name="pole tekstowe 4">
            <a:extLst>
              <a:ext uri="{FF2B5EF4-FFF2-40B4-BE49-F238E27FC236}">
                <a16:creationId xmlns:a16="http://schemas.microsoft.com/office/drawing/2014/main" id="{3ECACFEE-8855-436E-B24A-E1DC4A4F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F1D416BD-FDA9-41E2-9ABB-44EC43B1E1FC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4" y="1628801"/>
            <a:ext cx="5376599" cy="511256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576054" y="1628801"/>
            <a:ext cx="5477679" cy="511256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44624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3" y="548680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61554396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a 9">
            <a:extLst>
              <a:ext uri="{FF2B5EF4-FFF2-40B4-BE49-F238E27FC236}">
                <a16:creationId xmlns:a16="http://schemas.microsoft.com/office/drawing/2014/main" id="{76BF23AB-D7A2-473F-B25D-1D68588F1728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3" name="Prostokąt 12">
              <a:extLst>
                <a:ext uri="{FF2B5EF4-FFF2-40B4-BE49-F238E27FC236}">
                  <a16:creationId xmlns:a16="http://schemas.microsoft.com/office/drawing/2014/main" id="{C6E2C7D1-3BD9-4A24-B4CF-104AFC655614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4" name="Obraz 13">
              <a:extLst>
                <a:ext uri="{FF2B5EF4-FFF2-40B4-BE49-F238E27FC236}">
                  <a16:creationId xmlns:a16="http://schemas.microsoft.com/office/drawing/2014/main" id="{08AE5F37-8A98-4B89-827B-0F6589C8C2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8" name="pole tekstowe 4">
            <a:extLst>
              <a:ext uri="{FF2B5EF4-FFF2-40B4-BE49-F238E27FC236}">
                <a16:creationId xmlns:a16="http://schemas.microsoft.com/office/drawing/2014/main" id="{719BE861-94A7-4968-91BA-65140916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EB2396A7-488D-4B29-B27E-B1F82536D5B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627539376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C8288E89-3B0A-407D-A2A1-C9C3C74060EB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A3CF7106-AAC5-4336-AEA0-B600B7DBB6D0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0" name="Obraz 9">
              <a:extLst>
                <a:ext uri="{FF2B5EF4-FFF2-40B4-BE49-F238E27FC236}">
                  <a16:creationId xmlns:a16="http://schemas.microsoft.com/office/drawing/2014/main" id="{1FF25586-59C3-4EC8-AB49-11F0E61497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6" name="pole tekstowe 4">
            <a:extLst>
              <a:ext uri="{FF2B5EF4-FFF2-40B4-BE49-F238E27FC236}">
                <a16:creationId xmlns:a16="http://schemas.microsoft.com/office/drawing/2014/main" id="{CB9EE27C-4280-4699-B0FB-00C29EC06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0900F33-D32C-4F5F-BC7D-BCD466A03069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1424" y="116632"/>
            <a:ext cx="4416491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519936" y="116632"/>
            <a:ext cx="6528725" cy="6624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911424" y="1435100"/>
            <a:ext cx="4416491" cy="53062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8823153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B7638175-FCC2-4A2E-BD4B-C014158136BF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FAC1082C-5AA9-4C8A-9F4F-BC1FBB2899FF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0" name="Obraz 9">
              <a:extLst>
                <a:ext uri="{FF2B5EF4-FFF2-40B4-BE49-F238E27FC236}">
                  <a16:creationId xmlns:a16="http://schemas.microsoft.com/office/drawing/2014/main" id="{C1D5298B-83A2-4B46-9D5B-3053833786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6" name="pole tekstowe 4">
            <a:extLst>
              <a:ext uri="{FF2B5EF4-FFF2-40B4-BE49-F238E27FC236}">
                <a16:creationId xmlns:a16="http://schemas.microsoft.com/office/drawing/2014/main" id="{38114D0A-9A9F-4AC0-AB2B-9D7ECEC1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70C72BC-1685-4E5C-9AB7-8C22C053D08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05269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5" y="283"/>
            <a:ext cx="11184061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3005269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829431103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a 6">
            <a:extLst>
              <a:ext uri="{FF2B5EF4-FFF2-40B4-BE49-F238E27FC236}">
                <a16:creationId xmlns:a16="http://schemas.microsoft.com/office/drawing/2014/main" id="{794969D8-3780-45AC-AF1F-E1C5AA28CBA9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3BFB7953-19B6-41F5-AAD5-D23DCF4695E6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9" name="Obraz 8">
              <a:extLst>
                <a:ext uri="{FF2B5EF4-FFF2-40B4-BE49-F238E27FC236}">
                  <a16:creationId xmlns:a16="http://schemas.microsoft.com/office/drawing/2014/main" id="{5F7E8FE9-0E36-44CC-98EC-31461F67D0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776E1DE-8E59-4FAF-828C-A1E3A9F6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2378A4F9-4C6D-448A-9C2B-718DC76E7A0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07435" y="116632"/>
            <a:ext cx="11041227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772817"/>
            <a:ext cx="11041227" cy="496855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3214643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a 6">
            <a:extLst>
              <a:ext uri="{FF2B5EF4-FFF2-40B4-BE49-F238E27FC236}">
                <a16:creationId xmlns:a16="http://schemas.microsoft.com/office/drawing/2014/main" id="{BB935609-CB55-405F-8B5E-32481A6CD997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B33CD6CA-CE75-4C42-A1BA-022400A1DA83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9" name="Obraz 8">
              <a:extLst>
                <a:ext uri="{FF2B5EF4-FFF2-40B4-BE49-F238E27FC236}">
                  <a16:creationId xmlns:a16="http://schemas.microsoft.com/office/drawing/2014/main" id="{00981068-72BD-43CC-B5F6-A284719F0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D3AAED1-1E56-4E0F-BA47-B297E2E3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8EFA466E-1A63-45EC-9BBE-3350A7902656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116632"/>
            <a:ext cx="3209461" cy="6696744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16632"/>
            <a:ext cx="7628565" cy="66967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03636459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A9D2542B-478A-4E26-A12F-4232999A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4" y="115888"/>
            <a:ext cx="11040533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3201AC01-9E6A-4CE5-A822-FEB3753C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773239"/>
            <a:ext cx="11040533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D082F18C-2043-4D64-8064-A753060752E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algn="ctr"/>
            <a:r>
              <a:rPr lang="pl-PL" dirty="0"/>
              <a:t>Referat seminaryjny</a:t>
            </a:r>
          </a:p>
          <a:p>
            <a:pPr algn="ctr"/>
            <a:r>
              <a:rPr lang="pl-PL" dirty="0"/>
              <a:t>Autor: Dawid Szuber</a:t>
            </a:r>
          </a:p>
          <a:p>
            <a:pPr algn="ctr"/>
            <a:r>
              <a:rPr lang="pl-PL" dirty="0"/>
              <a:t>Nr albumu 290297</a:t>
            </a:r>
          </a:p>
          <a:p>
            <a:pPr algn="ctr"/>
            <a:r>
              <a:rPr lang="pl-PL" dirty="0"/>
              <a:t>Kierunek: ITE</a:t>
            </a:r>
          </a:p>
          <a:p>
            <a:pPr algn="ctr"/>
            <a:r>
              <a:rPr lang="pl-PL" dirty="0"/>
              <a:t>Prowadzący: dr inż. Jan Kowalski</a:t>
            </a:r>
          </a:p>
          <a:p>
            <a:pPr algn="ctr"/>
            <a:r>
              <a:rPr lang="pl-PL" dirty="0"/>
              <a:t>Wrocław 2026</a:t>
            </a:r>
          </a:p>
          <a:p>
            <a:pPr algn="ctr"/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EC8470A-D0D2-4ECC-A4D3-F4CC7849E82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Programowanie Obiektowe</a:t>
            </a:r>
          </a:p>
        </p:txBody>
      </p:sp>
    </p:spTree>
    <p:extLst>
      <p:ext uri="{BB962C8B-B14F-4D97-AF65-F5344CB8AC3E}">
        <p14:creationId xmlns:p14="http://schemas.microsoft.com/office/powerpoint/2010/main" val="2619901615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D0B33A0-72D8-E91D-6183-F02F85FD1CA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6C48E08-8CDE-EAA0-F978-67D3AA9ED52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sz="5400" dirty="0"/>
              <a:t>Spis treści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B05F75E-7288-9942-ABC5-228D5591546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71463" y="2520914"/>
            <a:ext cx="85896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Wprowadzenie do OOP – definicja i różnice względem podejścia proceduralnego.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Klasa a Obiekt – fundamenty paradygmatu.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Cztery Filary Programowania Obiektowego.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Dziedziczenie vs Kompozycja – relacje między obiektami.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Zasady SOLID – jak pisać czysty kod.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Ścieżka rozwoju – projekty i literatura.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Podsumowanie i Q&amp;A.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Bibliografia.</a:t>
            </a:r>
          </a:p>
        </p:txBody>
      </p:sp>
    </p:spTree>
    <p:extLst>
      <p:ext uri="{BB962C8B-B14F-4D97-AF65-F5344CB8AC3E}">
        <p14:creationId xmlns:p14="http://schemas.microsoft.com/office/powerpoint/2010/main" val="296047581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39C1258-37FA-2552-5D23-5AA339CCB1D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2CC4A78-6231-2C2C-3463-7AABFD4C283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Czym jest Programowanie Obiektowe (OOP)?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796782-134F-30BD-64FF-848049024D1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07433" y="1969092"/>
            <a:ext cx="1011527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Definicja: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Paradygmat modelujący rzeczywistość za pomocą obiektów, 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łączący dane z funkcjami.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Proceduralne vs Obiektowe:</a:t>
            </a: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Proceduralne: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Lista zadań (np. "Weź mąkę", "Wymieszaj")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-ryzyko błędu przy zmianie jednego kroku.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Obiektowe: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Zorganizowana kuchnia z obiektami ("Kucharz", "Piekarnik")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które mają własne odpowiedzialności.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Kluczowe korzyści:</a:t>
            </a: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Modułowość i łatwiejsze testowanie.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Wielokrotne użycie kodu (</a:t>
            </a:r>
            <a:r>
              <a:rPr kumimoji="0" lang="pl-PL" altLang="pl-P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Reusability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Lepsze odwzorowanie rzeczywistości.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604990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C2226D7-AEC4-847B-C69A-9E98AFF160C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pl-PL" dirty="0"/>
              <a:t>Fundamenty: Klasa i Obiekt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A28A5CB-F953-CA6F-C7F4-A4CE3FABC33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Klasa (Class):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EB56460D-4CDF-5FBF-5544-A8263630609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l-PL" dirty="0"/>
              <a:t>Obiekt (Object)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41D6FAA-632E-8C70-FEDB-ACFB73BAC9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07434" y="3388590"/>
            <a:ext cx="540055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plan, szablon lub projekt 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(np. definicja "Samochodu").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Opisuje cechy i zachowania,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 sama nie jest bytem fizycznym.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C107AE8-2F3A-6BC5-0CBD-7BE1C0531567}"/>
              </a:ext>
            </a:extLst>
          </p:cNvPr>
          <p:cNvSpPr>
            <a:spLocks noGrp="1" noChangeArrowheads="1"/>
          </p:cNvSpPr>
          <p:nvPr>
            <p:ph sz="half" idx="11"/>
          </p:nvPr>
        </p:nvSpPr>
        <p:spPr bwMode="auto">
          <a:xfrm>
            <a:off x="6407988" y="3251594"/>
            <a:ext cx="647603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Konkretna instancja klasy stworzona na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podstawie planu (</a:t>
            </a:r>
            <a:r>
              <a:rPr kumimoji="0" lang="pl-PL" altLang="pl-P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instancjacja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lvl="0" indent="0" eaLnBrk="0" hangingPunct="0">
              <a:spcBef>
                <a:spcPct val="0"/>
              </a:spcBef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Przykład:</a:t>
            </a:r>
            <a:endParaRPr lang="pl-PL" altLang="pl-PL" sz="2400" dirty="0">
              <a:latin typeface="Arial" panose="020B0604020202020204" pitchFamily="34" charset="0"/>
            </a:endParaRPr>
          </a:p>
          <a:p>
            <a:pPr marL="0" lvl="0" indent="0" eaLnBrk="0" hangingPunct="0">
              <a:spcBef>
                <a:spcPct val="0"/>
              </a:spcBef>
            </a:pP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mojeAuto</a:t>
            </a:r>
            <a:r>
              <a:rPr lang="pl-PL" altLang="pl-PL" sz="2400" dirty="0">
                <a:latin typeface="Arial" panose="020B0604020202020204" pitchFamily="34" charset="0"/>
              </a:rPr>
              <a:t> (Ferrari) vs </a:t>
            </a:r>
            <a:r>
              <a:rPr lang="pl-PL" altLang="pl-PL" sz="2400" dirty="0" err="1">
                <a:latin typeface="Arial" panose="020B0604020202020204" pitchFamily="34" charset="0"/>
              </a:rPr>
              <a:t>autoSasiada</a:t>
            </a:r>
            <a:r>
              <a:rPr lang="pl-PL" altLang="pl-PL" sz="2400" dirty="0">
                <a:latin typeface="Arial" panose="020B0604020202020204" pitchFamily="34" charset="0"/>
              </a:rPr>
              <a:t> (Fiat)  </a:t>
            </a:r>
            <a:br>
              <a:rPr lang="pl-PL" altLang="pl-PL" sz="2400" dirty="0">
                <a:latin typeface="Arial" panose="020B0604020202020204" pitchFamily="34" charset="0"/>
              </a:rPr>
            </a:br>
            <a:r>
              <a:rPr lang="pl-PL" altLang="pl-PL" sz="2400" dirty="0">
                <a:latin typeface="Arial" panose="020B0604020202020204" pitchFamily="34" charset="0"/>
              </a:rPr>
              <a:t>mają te same metody, ale różne dane .</a:t>
            </a: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22781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6F56D37-839E-AE07-4323-4C4C96FB1A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F7B4CE4-F77C-6E38-B88D-D6447A7236B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Cztery Filary OOP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36AD7084-066E-8F5F-5C49-318C11AA37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2727074"/>
              </p:ext>
            </p:extLst>
          </p:nvPr>
        </p:nvGraphicFramePr>
        <p:xfrm>
          <a:off x="1007433" y="1556792"/>
          <a:ext cx="11016635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714770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50F0F1F-2EEF-DAC5-0FA8-1327C8CA332C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pl-PL" dirty="0"/>
              <a:t>Elastyczne powiązanie, preferowane w nowoczesnym projektowaniu.</a:t>
            </a:r>
          </a:p>
          <a:p>
            <a:r>
              <a:rPr lang="pl-PL" dirty="0"/>
              <a:t>Przykład: </a:t>
            </a:r>
            <a:r>
              <a:rPr lang="pl-PL" dirty="0" err="1"/>
              <a:t>Samochod</a:t>
            </a:r>
            <a:r>
              <a:rPr lang="pl-PL" dirty="0"/>
              <a:t> ma Silnik (zamiast dziedziczyć, zawiera obiekt silnika w sobie)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B9A8356-7DE7-DF68-135F-7C5470D5C3D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pl-PL" dirty="0"/>
              <a:t>Zaawansowane Koncepcje: Dziedziczenie a Kompozycja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E7ED05A-995F-B98F-6156-CE8B971EA02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Dziedziczenie (Relacja "IS-A" / "JEST"):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4F6B4A07-FE07-E35F-52AE-77BE074149A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l-PL" dirty="0"/>
              <a:t>Kompozycja (Relacja "HAS-A" / "MA"):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5C0AA49-DA03-05AC-1C98-9150B9C4E66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07435" y="1768699"/>
            <a:ext cx="540055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Sztywne powiązanie (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tight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coupling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pl-PL" altLang="pl-P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hangingPunct="0">
              <a:spcBef>
                <a:spcPct val="0"/>
              </a:spcBef>
            </a:pPr>
            <a:r>
              <a:rPr lang="pl-PL" altLang="pl-PL" dirty="0">
                <a:latin typeface="Arial" panose="020B0604020202020204" pitchFamily="34" charset="0"/>
              </a:rPr>
              <a:t>Przykład: </a:t>
            </a:r>
            <a:r>
              <a:rPr lang="pl-PL" altLang="pl-PL" dirty="0" err="1">
                <a:latin typeface="Arial" panose="020B0604020202020204" pitchFamily="34" charset="0"/>
              </a:rPr>
              <a:t>Samochod</a:t>
            </a:r>
            <a:r>
              <a:rPr lang="pl-PL" altLang="pl-PL" dirty="0">
                <a:latin typeface="Arial" panose="020B0604020202020204" pitchFamily="34" charset="0"/>
              </a:rPr>
              <a:t> jest Pojazdem</a:t>
            </a: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808592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141521A-E2A6-492B-54B3-D7A117A1D7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46D7CEF-DB2B-BC67-AAB3-49ACBA422E8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Zasady SOLID – Czysty Kod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2B5A2C60-57C5-69BE-61F5-030C8A0B75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6757364"/>
              </p:ext>
            </p:extLst>
          </p:nvPr>
        </p:nvGraphicFramePr>
        <p:xfrm>
          <a:off x="1007433" y="1556792"/>
          <a:ext cx="11016635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5568513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ość i sworznie na planszowej planszy">
            <a:extLst>
              <a:ext uri="{FF2B5EF4-FFF2-40B4-BE49-F238E27FC236}">
                <a16:creationId xmlns:a16="http://schemas.microsoft.com/office/drawing/2014/main" id="{660661D5-434E-F540-CCC3-24F3734B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2" r="25969" b="1"/>
          <a:stretch>
            <a:fillRect/>
          </a:stretch>
        </p:blipFill>
        <p:spPr>
          <a:xfrm>
            <a:off x="1007435" y="1628801"/>
            <a:ext cx="5400552" cy="5184575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33C8DD9-1D87-7CE3-C156-1D47D048345C}"/>
              </a:ext>
            </a:extLst>
          </p:cNvPr>
          <p:cNvSpPr>
            <a:spLocks noGrp="1" noChangeArrowheads="1"/>
          </p:cNvSpPr>
          <p:nvPr>
            <p:ph sz="half" idx="11"/>
          </p:nvPr>
        </p:nvSpPr>
        <p:spPr bwMode="auto">
          <a:xfrm>
            <a:off x="6672064" y="1628801"/>
            <a:ext cx="5400552" cy="51845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dirty="0">
                <a:ln>
                  <a:noFill/>
                </a:ln>
                <a:effectLst/>
              </a:rPr>
              <a:t>Projekty do realizacji:</a:t>
            </a:r>
            <a:endParaRPr kumimoji="0" lang="pl-PL" altLang="pl-PL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2000" b="0" i="1" u="none" strike="noStrike" cap="none" normalizeH="0" baseline="0" dirty="0">
                <a:ln>
                  <a:noFill/>
                </a:ln>
                <a:effectLst/>
              </a:rPr>
              <a:t>System Biblioteczny: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 Nauka relacji i hermetyzacji (Książka, Czytelnik, Biblioteka).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pl-PL" altLang="pl-PL" sz="2000" b="0" i="1" u="none" strike="noStrike" cap="none" normalizeH="0" baseline="0" dirty="0">
                <a:ln>
                  <a:noFill/>
                </a:ln>
                <a:effectLst/>
              </a:rPr>
              <a:t>Gra RPG: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 Zastosowanie dziedziczenia i polimorfizmu (Klasy: Postać, Bohater, Przeciwnik).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pl-PL" altLang="pl-PL" sz="2000" b="0" i="1" u="none" strike="noStrike" cap="none" normalizeH="0" baseline="0" dirty="0">
                <a:ln>
                  <a:noFill/>
                </a:ln>
                <a:effectLst/>
              </a:rPr>
              <a:t>Symulator Bankomatu: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 Obsługa wyjątków i kompozycja.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1" i="0" u="none" strike="noStrike" cap="none" normalizeH="0" baseline="0" dirty="0">
                <a:ln>
                  <a:noFill/>
                </a:ln>
                <a:effectLst/>
              </a:rPr>
              <a:t>Polecana literatura:</a:t>
            </a:r>
            <a:endParaRPr kumimoji="0" lang="pl-PL" altLang="pl-PL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"Czysty kod" – Robert C. Martin (Fundamenty).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"Wzorce Projektowe" – Banda Czterech (Dla zaawansowanych).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"Rusz głową! Wzorce projektowe" – Freeman &amp; </a:t>
            </a:r>
            <a:r>
              <a:rPr kumimoji="0" lang="pl-PL" altLang="pl-PL" sz="2000" b="0" i="0" u="none" strike="noStrike" cap="none" normalizeH="0" baseline="0" dirty="0" err="1">
                <a:ln>
                  <a:noFill/>
                </a:ln>
                <a:effectLst/>
              </a:rPr>
              <a:t>Robson</a:t>
            </a:r>
            <a:r>
              <a:rPr kumimoji="0" lang="pl-PL" altLang="pl-PL" sz="2000" b="0" i="0" u="none" strike="noStrike" cap="none" normalizeH="0" baseline="0" dirty="0">
                <a:ln>
                  <a:noFill/>
                </a:ln>
                <a:effectLst/>
              </a:rPr>
              <a:t> (Przystępne wprowadzenie).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66A8A25-5FD4-23C4-B5DD-AFAA58A1A30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Nauka w Praktyce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CA685D9-58BF-E7AB-94A6-BF826746EB5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83EB15F-A0EA-7136-7ED6-5678E9CD2E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41544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896A8CCF-6143-F408-72CE-8F33B48ABDD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lvl="0" eaLnBrk="0" hangingPunct="0">
              <a:spcBef>
                <a:spcPct val="0"/>
              </a:spcBef>
            </a:pPr>
            <a:endParaRPr lang="pl-PL" altLang="pl-PL" sz="1800" dirty="0">
              <a:latin typeface="Arial" panose="020B0604020202020204" pitchFamily="34" charset="0"/>
            </a:endParaRPr>
          </a:p>
          <a:p>
            <a:pPr marL="457200" lvl="0" indent="-457200" eaLnBrk="0" hangingPunct="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pl-PL" altLang="pl-PL" sz="2800" dirty="0">
                <a:latin typeface="Arial" panose="020B0604020202020204" pitchFamily="34" charset="0"/>
              </a:rPr>
              <a:t>Programowanie obiektowe to nie tylko składnia, ale sposób myślenia o problemach.</a:t>
            </a:r>
          </a:p>
          <a:p>
            <a:pPr marL="457200" lvl="0" indent="-457200" eaLnBrk="0" hangingPunct="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pl-PL" altLang="pl-PL" sz="2800" dirty="0">
                <a:latin typeface="Arial" panose="020B0604020202020204" pitchFamily="34" charset="0"/>
              </a:rPr>
              <a:t>Kluczem do sukcesu jest zrozumienie różnicy między </a:t>
            </a:r>
            <a:r>
              <a:rPr lang="pl-PL" altLang="pl-PL" sz="2800" b="1" dirty="0">
                <a:latin typeface="Arial" panose="020B0604020202020204" pitchFamily="34" charset="0"/>
              </a:rPr>
              <a:t>teorią</a:t>
            </a:r>
            <a:r>
              <a:rPr lang="pl-PL" altLang="pl-PL" sz="2800" dirty="0">
                <a:latin typeface="Arial" panose="020B0604020202020204" pitchFamily="34" charset="0"/>
              </a:rPr>
              <a:t> (filary OOP) a </a:t>
            </a:r>
            <a:r>
              <a:rPr lang="pl-PL" altLang="pl-PL" sz="2800" b="1" dirty="0">
                <a:latin typeface="Arial" panose="020B0604020202020204" pitchFamily="34" charset="0"/>
              </a:rPr>
              <a:t>praktyką</a:t>
            </a:r>
            <a:r>
              <a:rPr lang="pl-PL" altLang="pl-PL" sz="2800" dirty="0">
                <a:latin typeface="Arial" panose="020B0604020202020204" pitchFamily="34" charset="0"/>
              </a:rPr>
              <a:t> (SOLID, Wzorce Projektowe, Kompozycja).</a:t>
            </a:r>
          </a:p>
          <a:p>
            <a:pPr marL="457200" lvl="0" indent="-457200" eaLnBrk="0" hangingPunct="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pl-PL" altLang="pl-PL" sz="2800" dirty="0">
                <a:latin typeface="Arial" panose="020B0604020202020204" pitchFamily="34" charset="0"/>
              </a:rPr>
              <a:t>Najlepszą metodą nauki jest pisanie kodu i analiza projektów Open Source.</a:t>
            </a:r>
          </a:p>
          <a:p>
            <a:pPr marL="457200" lvl="0" indent="-457200" eaLnBrk="0" hangingPunct="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pl-PL" altLang="pl-PL" sz="2800" b="1" dirty="0">
                <a:latin typeface="Arial" panose="020B0604020202020204" pitchFamily="34" charset="0"/>
              </a:rPr>
              <a:t>Dziękuję za uwagę.</a:t>
            </a:r>
            <a:r>
              <a:rPr lang="pl-PL" altLang="pl-PL" sz="2800" dirty="0">
                <a:latin typeface="Arial" panose="020B0604020202020204" pitchFamily="34" charset="0"/>
              </a:rPr>
              <a:t> Czy są jakieś pytania?</a:t>
            </a:r>
          </a:p>
          <a:p>
            <a:endParaRPr lang="pl-PL" sz="1800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F39D7EC-A7C4-41A0-DD31-8966A3C89CB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</p:spTree>
    <p:extLst>
      <p:ext uri="{BB962C8B-B14F-4D97-AF65-F5344CB8AC3E}">
        <p14:creationId xmlns:p14="http://schemas.microsoft.com/office/powerpoint/2010/main" val="364688955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Zbliżenie otwartej książki">
            <a:extLst>
              <a:ext uri="{FF2B5EF4-FFF2-40B4-BE49-F238E27FC236}">
                <a16:creationId xmlns:a16="http://schemas.microsoft.com/office/drawing/2014/main" id="{28F2ACE4-84DD-3858-24CD-948F4474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76"/>
          <a:stretch>
            <a:fillRect/>
          </a:stretch>
        </p:blipFill>
        <p:spPr>
          <a:xfrm>
            <a:off x="1007435" y="1628801"/>
            <a:ext cx="5400552" cy="5184575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35DFADA-3248-46B1-97DD-05CBB7DAA5AE}"/>
              </a:ext>
            </a:extLst>
          </p:cNvPr>
          <p:cNvSpPr>
            <a:spLocks noGrp="1" noChangeArrowheads="1"/>
          </p:cNvSpPr>
          <p:nvPr>
            <p:ph sz="half" idx="11"/>
          </p:nvPr>
        </p:nvSpPr>
        <p:spPr bwMode="auto">
          <a:xfrm>
            <a:off x="6672064" y="1628801"/>
            <a:ext cx="5400552" cy="51845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Gamma E.,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</a:rPr>
              <a:t>Helm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 R., Johnson R.,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</a:rPr>
              <a:t>Vlissides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 J., Wzorce Projektowe. Elementy oprogramowania obiektowego wielokrotnego użytku, Wydawnictwo Helion.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Martin R. C., Czysty kod. Podręcznik dobrego programisty, Wydawnictwo Helion.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Freeman E.,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</a:rPr>
              <a:t>Robson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 E., Rusz głową! Wzorce projektowe, Wydawnictwo Helion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C8C1757-B5BF-C9A0-3A47-E4B9DEBFA37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Bibliografia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19F2229-BFBA-DEED-34D9-D66B547C9D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98F3FF8-AAE5-1FB0-26F7-D5052238D1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42762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szablon1-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zentacja_16x9_2024_PL_v1" id="{8FB10544-9DAC-4AF5-A820-ABE75E5ABB0F}" vid="{91C4030D-1BBB-4428-B870-B723CF3A8B7B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prezentacja_16x9_2024_pl_v1</Template>
  <TotalTime>30</TotalTime>
  <Words>686</Words>
  <Application>Microsoft Office PowerPoint</Application>
  <PresentationFormat>Panoramiczny</PresentationFormat>
  <Paragraphs>70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szablon1-PL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Dawid Szuber (290297)</dc:creator>
  <cp:lastModifiedBy>Dawid Szuber (290297)</cp:lastModifiedBy>
  <cp:revision>6</cp:revision>
  <cp:lastPrinted>2017-02-27T13:04:48Z</cp:lastPrinted>
  <dcterms:created xsi:type="dcterms:W3CDTF">2026-01-19T20:07:59Z</dcterms:created>
  <dcterms:modified xsi:type="dcterms:W3CDTF">2026-01-19T20:38:04Z</dcterms:modified>
</cp:coreProperties>
</file>